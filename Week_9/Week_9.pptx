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5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88"/>
    <p:restoredTop sz="94694"/>
  </p:normalViewPr>
  <p:slideViewPr>
    <p:cSldViewPr snapToGrid="0">
      <p:cViewPr varScale="1">
        <p:scale>
          <a:sx n="63" d="100"/>
          <a:sy n="63" d="100"/>
        </p:scale>
        <p:origin x="216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790AC59-1FB2-9647-8C3B-0518001CA0B4}" type="datetimeFigureOut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52C2B71-F5CA-2243-A535-BD5F5BCD22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6B34-73D7-D820-DD01-AF8BB7B79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A42AB-D9C5-E6D5-A202-5E488EB26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8B1A-42BF-FE41-8243-9B841A47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F4AD-C54C-5340-8F80-C42F7AC37EA1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4BDC-728A-C754-9EA9-516CAB59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86049-A326-1016-0E0B-AB43711E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8A95-4ECB-D8B6-19E6-FAD04C6D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A5F5-C274-7FAF-E6A0-AF27CA185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14B8-7934-EF5E-9EF6-D52CAC40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803-8B8A-D146-BB5B-9FAFDC3AB0F2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F936-E428-82B4-496D-C1462880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EF2-AB65-BECA-83CC-D5EE3D1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7ABC-4265-5EA0-05E5-57AF4E14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93430-D88D-DFAC-1DCD-A5B4A957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5260-E0A6-2433-5019-932D353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0C24-C7F6-A443-A9D1-2438A768F8E3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773E-C0D5-4A58-0D33-B359D93D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E447-A646-A06D-1FF2-1465B2B5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4335-D06F-1ABA-3F92-E6DF6F36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3561-EFA2-3EE6-B8E6-BD072B8F2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AE842-8C8C-8ABC-9C88-DBBB40DE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43319-4EB7-B8BD-53C2-D75E9E7B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5FFC-8697-294A-9EE6-5C12F5A8FE78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5ECF7-3369-110C-96B8-1BD16E99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222D6-AC60-1033-2405-6B18FF5B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3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131D-920D-E5AF-D7DB-B716C4B6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E573D-0C8D-3D5D-AC98-19D74335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2966-37C8-B308-4474-CEFBDE815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02E3-61BC-4F40-715B-22432E3D5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F8D2-FF58-A6A4-7263-FC8A150A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23547-D011-23DF-A782-5477D0D7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DB27-349E-3A46-ADAC-46C056AA7E9E}" type="datetime1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29EDC-FCC4-9DFD-7AAB-F355DCDE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0DB69-5B44-8BA9-CF8F-A66D37A8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FF90-2558-2087-7D48-A18E5908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AF63E-385B-8D7D-D45F-535F7CA2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F80C-80D9-8D45-BF72-6691DED12E23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BE8C7-EC36-CE03-85E6-9A3A1326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356C-5B67-FE84-ED79-02DBC441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9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1784F-3FBD-256C-ADA8-E6FE8D1E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4567D-60A2-A347-B858-3FCEDD02ED69}" type="datetime1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27AF-A30C-370F-3BE6-B685CBDE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9E73-C22F-85BA-213C-6CBB609B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54E-427B-1DAA-9326-75DA56C8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C21-5A1A-B3AE-8B45-EC0608FC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6C9A6-5749-25D1-1A20-2A4C6F078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20FD-68A8-3326-7A1F-57810FBA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6DA9-5A69-2341-B1DC-C6F3B5ADC5C2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A56ED-FAC9-471F-D33B-7DFA55A4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90F8E-AE01-6DAA-D351-ADCA3A85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9BD7-C8FA-2FEC-DB2F-935C8A00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52F7E-9CC5-9619-358B-68F562F35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94E2-9D35-854C-3F8F-3DEA23BE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4F37C-7A46-4BF3-257E-516609E5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512B-5102-5D4B-B071-6CD36A0DDD56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12F1-993B-18C7-7E20-A41B71D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809-9A4F-DCDD-50F7-0F828A42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E5F9-57C5-4C72-9711-87959BD5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022DE-0D3A-0DA8-4053-13DABFD56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FDA4-F3ED-E6A6-05BC-374CA17C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D1DF-7AF4-A64D-9A23-8BB5476534B0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CFE9-25D6-AD27-0E48-F378141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DA54-4D12-2DA6-F88B-F578353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5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68D3-7F52-A49C-9F8F-471C502C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C6D7-ACBC-5B59-1ACD-A32BFFFD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2DA9-7FA9-C66D-8228-9389527D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9345-6FED-764F-B7E5-58B8B6104E66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818D-7153-28CF-08BE-316045C8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346E-94BB-B26C-649A-117207C7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2BDC7-E0A7-C9C7-61EF-A89D293D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58CF-DE86-1E84-D04E-5383D35F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0284C-E50F-5D2A-6EBC-B915ED1D1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CAB288D-ACDE-7042-9092-CA3362F0D793}" type="datetime1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B1A9-8EC5-78A5-36EB-97C63BC8D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0DFD-7958-EE6B-1C32-74F9A325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7B59D6D-BBE8-2E4A-838C-1AECC9DF24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3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82B5420-23BE-67EC-A1DE-0E5CEB50B0C1}"/>
              </a:ext>
            </a:extLst>
          </p:cNvPr>
          <p:cNvSpPr txBox="1">
            <a:spLocks/>
          </p:cNvSpPr>
          <p:nvPr/>
        </p:nvSpPr>
        <p:spPr>
          <a:xfrm>
            <a:off x="753600" y="1509688"/>
            <a:ext cx="10820400" cy="50931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4000" spc="-10" dirty="0"/>
              <a:t>Week 9 Recitation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3200" spc="-10" dirty="0"/>
              <a:t>Number System &amp; Data (Continued), ALU, Multiplexer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32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32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Rifat Bin Rashid 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Teaching Assistant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Dept.</a:t>
            </a:r>
            <a:r>
              <a:rPr lang="en-US" spc="-3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of</a:t>
            </a:r>
            <a:r>
              <a:rPr lang="en-US" spc="-4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ECE,</a:t>
            </a:r>
            <a:r>
              <a:rPr lang="en-US" spc="-6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spc="-20" dirty="0">
                <a:solidFill>
                  <a:srgbClr val="006FC0"/>
                </a:solidFill>
                <a:latin typeface="Georgia"/>
                <a:cs typeface="Georgia"/>
              </a:rPr>
              <a:t>Rutgers University</a:t>
            </a:r>
            <a:endParaRPr lang="en-US" dirty="0">
              <a:latin typeface="Georgia"/>
              <a:cs typeface="Georgia"/>
            </a:endParaRPr>
          </a:p>
          <a:p>
            <a:pPr marL="1597660" marR="1589405" indent="783590">
              <a:lnSpc>
                <a:spcPct val="124600"/>
              </a:lnSpc>
            </a:pPr>
            <a:endParaRPr lang="en-US" spc="-10" dirty="0">
              <a:solidFill>
                <a:srgbClr val="006FC0"/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732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8883-D9E4-F899-74C6-8EDCFBA4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834" y="298531"/>
            <a:ext cx="10515600" cy="1325563"/>
          </a:xfrm>
        </p:spPr>
        <p:txBody>
          <a:bodyPr/>
          <a:lstStyle/>
          <a:p>
            <a:r>
              <a:rPr lang="en-US" spc="-10" dirty="0"/>
              <a:t>Multiplexer- </a:t>
            </a:r>
            <a:r>
              <a:rPr lang="en-US" dirty="0"/>
              <a:t>Combinational</a:t>
            </a:r>
            <a:r>
              <a:rPr lang="en-US" spc="-10" dirty="0"/>
              <a:t> Circuits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8D5D5ED-CE2D-2817-AC01-CAE6FBA07A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39072"/>
            <a:ext cx="10515600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8450" algn="l"/>
              </a:tabLst>
            </a:pPr>
            <a:r>
              <a:rPr lang="en-US" sz="2400" spc="-10" dirty="0"/>
              <a:t>Multiplexer- </a:t>
            </a:r>
            <a:r>
              <a:rPr lang="en-US" sz="2400" dirty="0"/>
              <a:t>Combinational</a:t>
            </a:r>
            <a:r>
              <a:rPr lang="en-US" sz="2400" spc="-10" dirty="0"/>
              <a:t> Circuits :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inputs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845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565E206-29EA-8D00-C380-9CE4ED428D91}"/>
              </a:ext>
            </a:extLst>
          </p:cNvPr>
          <p:cNvSpPr txBox="1"/>
          <p:nvPr/>
        </p:nvSpPr>
        <p:spPr>
          <a:xfrm>
            <a:off x="838200" y="2734679"/>
            <a:ext cx="10358120" cy="341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5080" indent="-285750">
              <a:lnSpc>
                <a:spcPct val="150000"/>
              </a:lnSpc>
              <a:spcBef>
                <a:spcPts val="95"/>
              </a:spcBef>
              <a:buFont typeface="Wingdings"/>
              <a:buChar char="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Multiplexer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circuit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 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 select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one 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output.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440"/>
              </a:spcBef>
              <a:buFont typeface="Wingdings"/>
              <a:buChar char=""/>
              <a:tabLst>
                <a:tab pos="298450" algn="l"/>
              </a:tabLst>
            </a:pPr>
            <a:r>
              <a:rPr sz="2800" b="1" dirty="0">
                <a:latin typeface="Times New Roman"/>
                <a:cs typeface="Times New Roman"/>
              </a:rPr>
              <a:t>It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passes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signal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value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one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inputs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10" dirty="0">
                <a:latin typeface="Times New Roman"/>
                <a:cs typeface="Times New Roman"/>
              </a:rPr>
              <a:t> output.</a:t>
            </a:r>
            <a:endParaRPr sz="2800" b="1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440"/>
              </a:spcBef>
              <a:buFont typeface="Wingdings"/>
              <a:buChar char="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inputs.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2545" algn="ctr">
              <a:lnSpc>
                <a:spcPct val="100000"/>
              </a:lnSpc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n-to-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multiplexer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905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B1F33DA2-7576-DEBC-2C7D-A1FBCB3FA11A}"/>
              </a:ext>
            </a:extLst>
          </p:cNvPr>
          <p:cNvSpPr txBox="1">
            <a:spLocks/>
          </p:cNvSpPr>
          <p:nvPr/>
        </p:nvSpPr>
        <p:spPr>
          <a:xfrm>
            <a:off x="2772724" y="73441"/>
            <a:ext cx="9770160" cy="9404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2-to-</a:t>
            </a:r>
            <a:r>
              <a:rPr lang="en-US"/>
              <a:t>1</a:t>
            </a:r>
            <a:r>
              <a:rPr lang="en-US" spc="15"/>
              <a:t> </a:t>
            </a:r>
            <a:r>
              <a:rPr lang="en-US" spc="-10"/>
              <a:t>Multiplexer</a:t>
            </a:r>
            <a:endParaRPr lang="en-US" spc="-10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6DA4A14-D140-D219-CFB6-FD2A8BC30641}"/>
              </a:ext>
            </a:extLst>
          </p:cNvPr>
          <p:cNvGrpSpPr/>
          <p:nvPr/>
        </p:nvGrpSpPr>
        <p:grpSpPr>
          <a:xfrm>
            <a:off x="1686383" y="1507998"/>
            <a:ext cx="2172683" cy="1905000"/>
            <a:chOff x="1686383" y="1507998"/>
            <a:chExt cx="2172683" cy="190500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DAD6CE63-97CB-3463-44E6-A59D97D9EE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6383" y="1507998"/>
              <a:ext cx="2172683" cy="1905000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EF5E7C7-A6D4-7CB0-A8B0-CEB0A3091745}"/>
                </a:ext>
              </a:extLst>
            </p:cNvPr>
            <p:cNvSpPr/>
            <p:nvPr/>
          </p:nvSpPr>
          <p:spPr>
            <a:xfrm>
              <a:off x="1949323" y="2504820"/>
              <a:ext cx="75565" cy="576580"/>
            </a:xfrm>
            <a:custGeom>
              <a:avLst/>
              <a:gdLst/>
              <a:ahLst/>
              <a:cxnLst/>
              <a:rect l="l" t="t" r="r" b="b"/>
              <a:pathLst>
                <a:path w="75564" h="576580">
                  <a:moveTo>
                    <a:pt x="15875" y="529971"/>
                  </a:moveTo>
                  <a:lnTo>
                    <a:pt x="12319" y="526415"/>
                  </a:lnTo>
                  <a:lnTo>
                    <a:pt x="3556" y="526415"/>
                  </a:lnTo>
                  <a:lnTo>
                    <a:pt x="0" y="529971"/>
                  </a:lnTo>
                  <a:lnTo>
                    <a:pt x="0" y="534289"/>
                  </a:lnTo>
                  <a:lnTo>
                    <a:pt x="0" y="540131"/>
                  </a:lnTo>
                  <a:lnTo>
                    <a:pt x="3556" y="543687"/>
                  </a:lnTo>
                  <a:lnTo>
                    <a:pt x="12319" y="543687"/>
                  </a:lnTo>
                  <a:lnTo>
                    <a:pt x="15875" y="540131"/>
                  </a:lnTo>
                  <a:lnTo>
                    <a:pt x="15875" y="529971"/>
                  </a:lnTo>
                  <a:close/>
                </a:path>
                <a:path w="75564" h="576580">
                  <a:moveTo>
                    <a:pt x="58166" y="564642"/>
                  </a:moveTo>
                  <a:lnTo>
                    <a:pt x="54737" y="561213"/>
                  </a:lnTo>
                  <a:lnTo>
                    <a:pt x="46228" y="561213"/>
                  </a:lnTo>
                  <a:lnTo>
                    <a:pt x="42799" y="564642"/>
                  </a:lnTo>
                  <a:lnTo>
                    <a:pt x="42799" y="573151"/>
                  </a:lnTo>
                  <a:lnTo>
                    <a:pt x="46228" y="576580"/>
                  </a:lnTo>
                  <a:lnTo>
                    <a:pt x="54737" y="576580"/>
                  </a:lnTo>
                  <a:lnTo>
                    <a:pt x="58166" y="573151"/>
                  </a:lnTo>
                  <a:lnTo>
                    <a:pt x="58166" y="568833"/>
                  </a:lnTo>
                  <a:lnTo>
                    <a:pt x="58166" y="564642"/>
                  </a:lnTo>
                  <a:close/>
                </a:path>
                <a:path w="75564" h="576580">
                  <a:moveTo>
                    <a:pt x="61849" y="33274"/>
                  </a:moveTo>
                  <a:lnTo>
                    <a:pt x="49657" y="24384"/>
                  </a:lnTo>
                  <a:lnTo>
                    <a:pt x="44907" y="24384"/>
                  </a:lnTo>
                  <a:lnTo>
                    <a:pt x="43281" y="24892"/>
                  </a:lnTo>
                  <a:lnTo>
                    <a:pt x="43561" y="24892"/>
                  </a:lnTo>
                  <a:lnTo>
                    <a:pt x="42024" y="26416"/>
                  </a:lnTo>
                  <a:lnTo>
                    <a:pt x="40576" y="27813"/>
                  </a:lnTo>
                  <a:lnTo>
                    <a:pt x="39751" y="29591"/>
                  </a:lnTo>
                  <a:lnTo>
                    <a:pt x="39751" y="36957"/>
                  </a:lnTo>
                  <a:lnTo>
                    <a:pt x="43053" y="40386"/>
                  </a:lnTo>
                  <a:lnTo>
                    <a:pt x="51308" y="40386"/>
                  </a:lnTo>
                  <a:lnTo>
                    <a:pt x="52451" y="39243"/>
                  </a:lnTo>
                  <a:lnTo>
                    <a:pt x="52959" y="38735"/>
                  </a:lnTo>
                  <a:lnTo>
                    <a:pt x="54063" y="38735"/>
                  </a:lnTo>
                  <a:lnTo>
                    <a:pt x="59817" y="37338"/>
                  </a:lnTo>
                  <a:lnTo>
                    <a:pt x="60960" y="36195"/>
                  </a:lnTo>
                  <a:lnTo>
                    <a:pt x="61341" y="34798"/>
                  </a:lnTo>
                  <a:lnTo>
                    <a:pt x="61849" y="33274"/>
                  </a:lnTo>
                  <a:close/>
                </a:path>
                <a:path w="75564" h="576580">
                  <a:moveTo>
                    <a:pt x="75438" y="24130"/>
                  </a:moveTo>
                  <a:lnTo>
                    <a:pt x="75361" y="20955"/>
                  </a:lnTo>
                  <a:lnTo>
                    <a:pt x="75311" y="19304"/>
                  </a:lnTo>
                  <a:lnTo>
                    <a:pt x="75107" y="18669"/>
                  </a:lnTo>
                  <a:lnTo>
                    <a:pt x="74587" y="17018"/>
                  </a:lnTo>
                  <a:lnTo>
                    <a:pt x="73863" y="15748"/>
                  </a:lnTo>
                  <a:lnTo>
                    <a:pt x="72263" y="13081"/>
                  </a:lnTo>
                  <a:lnTo>
                    <a:pt x="70726" y="11176"/>
                  </a:lnTo>
                  <a:lnTo>
                    <a:pt x="69659" y="13081"/>
                  </a:lnTo>
                  <a:lnTo>
                    <a:pt x="70612" y="11176"/>
                  </a:lnTo>
                  <a:lnTo>
                    <a:pt x="69342" y="9461"/>
                  </a:lnTo>
                  <a:lnTo>
                    <a:pt x="70726" y="11176"/>
                  </a:lnTo>
                  <a:lnTo>
                    <a:pt x="71501" y="9398"/>
                  </a:lnTo>
                  <a:lnTo>
                    <a:pt x="70142" y="5334"/>
                  </a:lnTo>
                  <a:lnTo>
                    <a:pt x="69977" y="4826"/>
                  </a:lnTo>
                  <a:lnTo>
                    <a:pt x="66294" y="2921"/>
                  </a:lnTo>
                  <a:lnTo>
                    <a:pt x="64135" y="1778"/>
                  </a:lnTo>
                  <a:lnTo>
                    <a:pt x="60706" y="0"/>
                  </a:lnTo>
                  <a:lnTo>
                    <a:pt x="56642" y="1016"/>
                  </a:lnTo>
                  <a:lnTo>
                    <a:pt x="54356" y="3937"/>
                  </a:lnTo>
                  <a:lnTo>
                    <a:pt x="52070" y="6985"/>
                  </a:lnTo>
                  <a:lnTo>
                    <a:pt x="52197" y="11176"/>
                  </a:lnTo>
                  <a:lnTo>
                    <a:pt x="54825" y="14071"/>
                  </a:lnTo>
                  <a:lnTo>
                    <a:pt x="55245" y="14478"/>
                  </a:lnTo>
                  <a:lnTo>
                    <a:pt x="56134" y="15240"/>
                  </a:lnTo>
                  <a:lnTo>
                    <a:pt x="59309" y="17780"/>
                  </a:lnTo>
                  <a:lnTo>
                    <a:pt x="63119" y="20955"/>
                  </a:lnTo>
                  <a:lnTo>
                    <a:pt x="63881" y="21463"/>
                  </a:lnTo>
                  <a:lnTo>
                    <a:pt x="70866" y="25654"/>
                  </a:lnTo>
                  <a:lnTo>
                    <a:pt x="71882" y="26289"/>
                  </a:lnTo>
                  <a:lnTo>
                    <a:pt x="73025" y="26289"/>
                  </a:lnTo>
                  <a:lnTo>
                    <a:pt x="73914" y="25654"/>
                  </a:lnTo>
                  <a:lnTo>
                    <a:pt x="74930" y="25146"/>
                  </a:lnTo>
                  <a:lnTo>
                    <a:pt x="75438" y="24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9">
            <a:extLst>
              <a:ext uri="{FF2B5EF4-FFF2-40B4-BE49-F238E27FC236}">
                <a16:creationId xmlns:a16="http://schemas.microsoft.com/office/drawing/2014/main" id="{092FABD2-BD19-CEB2-9B3F-6BAE09D309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7955" y="3918203"/>
            <a:ext cx="2445522" cy="2326094"/>
          </a:xfrm>
          <a:prstGeom prst="rect">
            <a:avLst/>
          </a:prstGeom>
        </p:spPr>
      </p:pic>
      <p:pic>
        <p:nvPicPr>
          <p:cNvPr id="17" name="object 15">
            <a:extLst>
              <a:ext uri="{FF2B5EF4-FFF2-40B4-BE49-F238E27FC236}">
                <a16:creationId xmlns:a16="http://schemas.microsoft.com/office/drawing/2014/main" id="{E540C9B4-51B5-2BFD-BE39-7E886B77CCD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0338" y="3084010"/>
            <a:ext cx="6316421" cy="278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2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755DD4AD-5CBE-6E54-5F8A-B81810045E63}"/>
              </a:ext>
            </a:extLst>
          </p:cNvPr>
          <p:cNvSpPr txBox="1">
            <a:spLocks/>
          </p:cNvSpPr>
          <p:nvPr/>
        </p:nvSpPr>
        <p:spPr>
          <a:xfrm>
            <a:off x="2084679" y="-51104"/>
            <a:ext cx="9770160" cy="9404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4-to-</a:t>
            </a:r>
            <a:r>
              <a:rPr lang="en-US" dirty="0"/>
              <a:t>1</a:t>
            </a:r>
            <a:r>
              <a:rPr lang="en-US" spc="15" dirty="0"/>
              <a:t> </a:t>
            </a:r>
            <a:r>
              <a:rPr lang="en-US" spc="-10" dirty="0"/>
              <a:t>Multiplexer</a:t>
            </a:r>
          </a:p>
        </p:txBody>
      </p:sp>
      <p:pic>
        <p:nvPicPr>
          <p:cNvPr id="51" name="object 10">
            <a:extLst>
              <a:ext uri="{FF2B5EF4-FFF2-40B4-BE49-F238E27FC236}">
                <a16:creationId xmlns:a16="http://schemas.microsoft.com/office/drawing/2014/main" id="{18669F80-3C3B-BDA7-E830-D88AEDF27E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4181" y="1341985"/>
            <a:ext cx="1638629" cy="1971353"/>
          </a:xfrm>
          <a:prstGeom prst="rect">
            <a:avLst/>
          </a:prstGeom>
        </p:spPr>
      </p:pic>
      <p:pic>
        <p:nvPicPr>
          <p:cNvPr id="52" name="object 11">
            <a:extLst>
              <a:ext uri="{FF2B5EF4-FFF2-40B4-BE49-F238E27FC236}">
                <a16:creationId xmlns:a16="http://schemas.microsoft.com/office/drawing/2014/main" id="{D750ACBF-D60D-D492-55BE-E39B46CA62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131" y="3765992"/>
            <a:ext cx="1869679" cy="2202677"/>
          </a:xfrm>
          <a:prstGeom prst="rect">
            <a:avLst/>
          </a:prstGeom>
        </p:spPr>
      </p:pic>
      <p:pic>
        <p:nvPicPr>
          <p:cNvPr id="53" name="object 12">
            <a:extLst>
              <a:ext uri="{FF2B5EF4-FFF2-40B4-BE49-F238E27FC236}">
                <a16:creationId xmlns:a16="http://schemas.microsoft.com/office/drawing/2014/main" id="{017053E9-207C-FE81-E7B7-9FFD4519BDC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5140" y="1346699"/>
            <a:ext cx="7015219" cy="462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E0D7A119-EE43-1AEA-044A-90A52481FE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8208" y="1669496"/>
            <a:ext cx="4187277" cy="4935485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57B44036-C562-81E7-81E8-E33FB9DBB24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6515" y="2478327"/>
            <a:ext cx="2232283" cy="2626813"/>
          </a:xfrm>
          <a:prstGeom prst="rect">
            <a:avLst/>
          </a:prstGeom>
        </p:spPr>
      </p:pic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AEC51579-5283-EFAD-9274-108EA3CA1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0840" y="336071"/>
            <a:ext cx="68630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4-to-</a:t>
            </a:r>
            <a:r>
              <a:rPr dirty="0"/>
              <a:t>1</a:t>
            </a:r>
            <a:r>
              <a:rPr spc="10" dirty="0"/>
              <a:t> </a:t>
            </a:r>
            <a:r>
              <a:rPr dirty="0"/>
              <a:t>Mux</a:t>
            </a:r>
            <a:r>
              <a:rPr spc="10" dirty="0"/>
              <a:t> </a:t>
            </a:r>
            <a:r>
              <a:rPr dirty="0"/>
              <a:t>using</a:t>
            </a:r>
            <a:r>
              <a:rPr spc="10" dirty="0"/>
              <a:t> </a:t>
            </a:r>
            <a:r>
              <a:rPr spc="-25" dirty="0"/>
              <a:t>2-</a:t>
            </a:r>
            <a:r>
              <a:rPr spc="-10" dirty="0"/>
              <a:t>to-</a:t>
            </a:r>
            <a:r>
              <a:rPr dirty="0"/>
              <a:t>1</a:t>
            </a:r>
            <a:r>
              <a:rPr spc="15" dirty="0"/>
              <a:t> </a:t>
            </a:r>
            <a:r>
              <a:rPr spc="-25" dirty="0"/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20687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1">
            <a:extLst>
              <a:ext uri="{FF2B5EF4-FFF2-40B4-BE49-F238E27FC236}">
                <a16:creationId xmlns:a16="http://schemas.microsoft.com/office/drawing/2014/main" id="{C1A80853-73CB-E717-28C4-1B6BDD1A81F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9336" y="1203008"/>
            <a:ext cx="4442744" cy="5512752"/>
          </a:xfrm>
          <a:prstGeom prst="rect">
            <a:avLst/>
          </a:prstGeom>
        </p:spPr>
      </p:pic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7BEFA2EC-169E-C403-FCD8-5954216CAAF4}"/>
              </a:ext>
            </a:extLst>
          </p:cNvPr>
          <p:cNvSpPr txBox="1">
            <a:spLocks/>
          </p:cNvSpPr>
          <p:nvPr/>
        </p:nvSpPr>
        <p:spPr>
          <a:xfrm>
            <a:off x="2809240" y="214151"/>
            <a:ext cx="816356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16-to-</a:t>
            </a:r>
            <a:r>
              <a:rPr lang="en-US" dirty="0"/>
              <a:t>1</a:t>
            </a:r>
            <a:r>
              <a:rPr lang="en-US" spc="10" dirty="0"/>
              <a:t> </a:t>
            </a:r>
            <a:r>
              <a:rPr lang="en-US" dirty="0"/>
              <a:t>Mux</a:t>
            </a:r>
            <a:r>
              <a:rPr lang="en-US" spc="10" dirty="0"/>
              <a:t> </a:t>
            </a:r>
            <a:r>
              <a:rPr lang="en-US" dirty="0"/>
              <a:t>using</a:t>
            </a:r>
            <a:r>
              <a:rPr lang="en-US" spc="10" dirty="0"/>
              <a:t> </a:t>
            </a:r>
            <a:r>
              <a:rPr lang="en-US" spc="-25" dirty="0"/>
              <a:t>4-</a:t>
            </a:r>
            <a:r>
              <a:rPr lang="en-US" spc="-10" dirty="0"/>
              <a:t>to-</a:t>
            </a:r>
            <a:r>
              <a:rPr lang="en-US" dirty="0"/>
              <a:t>1</a:t>
            </a:r>
            <a:r>
              <a:rPr lang="en-US" spc="15" dirty="0"/>
              <a:t> </a:t>
            </a:r>
            <a:r>
              <a:rPr lang="en-US" spc="-25" dirty="0"/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5355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A50FEFDC-0F9F-C4D6-D47F-69650702C51A}"/>
              </a:ext>
            </a:extLst>
          </p:cNvPr>
          <p:cNvSpPr txBox="1">
            <a:spLocks/>
          </p:cNvSpPr>
          <p:nvPr/>
        </p:nvSpPr>
        <p:spPr>
          <a:xfrm>
            <a:off x="1824761" y="335597"/>
            <a:ext cx="10899597" cy="9404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 marL="14986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Conditional</a:t>
            </a:r>
            <a:r>
              <a:rPr lang="en-US" spc="-20" dirty="0"/>
              <a:t> </a:t>
            </a:r>
            <a:r>
              <a:rPr lang="en-US" dirty="0"/>
              <a:t>Operator</a:t>
            </a:r>
            <a:r>
              <a:rPr lang="en-US" spc="-114" dirty="0"/>
              <a:t> </a:t>
            </a:r>
            <a:r>
              <a:rPr lang="en-US" spc="-25" dirty="0"/>
              <a:t>?: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5CF0BDAE-40CB-CE9F-7CD6-CD5FB1E1E3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378" y="2479455"/>
            <a:ext cx="8985867" cy="344326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FE7EDE3-1479-09E7-66C0-65846623CEF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9283" y="3564716"/>
            <a:ext cx="6572621" cy="43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5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FDB16FA3-E3AA-57EA-2D16-B398A452F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2403" y="171825"/>
            <a:ext cx="10899597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/>
              <a:t>Mux Using</a:t>
            </a:r>
            <a:r>
              <a:rPr spc="5" dirty="0"/>
              <a:t> </a:t>
            </a:r>
            <a:r>
              <a:rPr dirty="0"/>
              <a:t>Conditional</a:t>
            </a:r>
            <a:r>
              <a:rPr spc="5" dirty="0"/>
              <a:t> </a:t>
            </a:r>
            <a:r>
              <a:rPr spc="-10" dirty="0"/>
              <a:t>Operator</a:t>
            </a:r>
          </a:p>
        </p:txBody>
      </p:sp>
      <p:pic>
        <p:nvPicPr>
          <p:cNvPr id="33" name="object 4">
            <a:extLst>
              <a:ext uri="{FF2B5EF4-FFF2-40B4-BE49-F238E27FC236}">
                <a16:creationId xmlns:a16="http://schemas.microsoft.com/office/drawing/2014/main" id="{E24E4369-F403-BE49-052A-8131770D29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177" y="2643124"/>
            <a:ext cx="4182143" cy="2657619"/>
          </a:xfrm>
          <a:prstGeom prst="rect">
            <a:avLst/>
          </a:prstGeom>
        </p:spPr>
      </p:pic>
      <p:pic>
        <p:nvPicPr>
          <p:cNvPr id="34" name="object 5">
            <a:extLst>
              <a:ext uri="{FF2B5EF4-FFF2-40B4-BE49-F238E27FC236}">
                <a16:creationId xmlns:a16="http://schemas.microsoft.com/office/drawing/2014/main" id="{4CEAD9B2-0E72-F9A7-2001-521EBBE945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0244" y="2643124"/>
            <a:ext cx="7191756" cy="293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6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2F35-AD62-569F-84EE-AD2C5464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70686D6E-DF2E-8567-3955-A10C1B4B3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201" y="-51104"/>
            <a:ext cx="10899597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1755">
              <a:lnSpc>
                <a:spcPct val="100000"/>
              </a:lnSpc>
              <a:spcBef>
                <a:spcPts val="100"/>
              </a:spcBef>
            </a:pPr>
            <a:r>
              <a:rPr dirty="0"/>
              <a:t>Mux</a:t>
            </a:r>
            <a:r>
              <a:rPr spc="5" dirty="0"/>
              <a:t> </a:t>
            </a:r>
            <a:r>
              <a:rPr dirty="0"/>
              <a:t>Using</a:t>
            </a:r>
            <a:r>
              <a:rPr spc="10" dirty="0"/>
              <a:t> </a:t>
            </a:r>
            <a:r>
              <a:rPr spc="-10" dirty="0"/>
              <a:t>if-</a:t>
            </a:r>
            <a:r>
              <a:rPr spc="-20" dirty="0"/>
              <a:t>else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EA7F40D-7A52-E8E4-DC25-51C0AED051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831" y="1615821"/>
            <a:ext cx="3113904" cy="3320121"/>
          </a:xfrm>
          <a:prstGeom prst="rect">
            <a:avLst/>
          </a:prstGeom>
        </p:spPr>
      </p:pic>
      <p:grpSp>
        <p:nvGrpSpPr>
          <p:cNvPr id="5" name="object 6">
            <a:extLst>
              <a:ext uri="{FF2B5EF4-FFF2-40B4-BE49-F238E27FC236}">
                <a16:creationId xmlns:a16="http://schemas.microsoft.com/office/drawing/2014/main" id="{477D732F-9B5A-4219-5BA5-B5DE7E9BB15E}"/>
              </a:ext>
            </a:extLst>
          </p:cNvPr>
          <p:cNvGrpSpPr/>
          <p:nvPr/>
        </p:nvGrpSpPr>
        <p:grpSpPr>
          <a:xfrm>
            <a:off x="4202560" y="1371600"/>
            <a:ext cx="7151594" cy="5034395"/>
            <a:chOff x="4202560" y="1371600"/>
            <a:chExt cx="7151594" cy="5034395"/>
          </a:xfrm>
        </p:grpSpPr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C0535DF0-04B0-5504-38AF-3BF8FC64365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2560" y="1494598"/>
              <a:ext cx="3765722" cy="4496056"/>
            </a:xfrm>
            <a:prstGeom prst="rect">
              <a:avLst/>
            </a:prstGeom>
          </p:spPr>
        </p:pic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1674B43C-383F-F487-3301-C160894A8D4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400" y="1371600"/>
              <a:ext cx="2819754" cy="5034395"/>
            </a:xfrm>
            <a:prstGeom prst="rect">
              <a:avLst/>
            </a:prstGeom>
          </p:spPr>
        </p:pic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13CC7EB6-D865-63F8-7968-6E36F5E16DE4}"/>
                </a:ext>
              </a:extLst>
            </p:cNvPr>
            <p:cNvSpPr/>
            <p:nvPr/>
          </p:nvSpPr>
          <p:spPr>
            <a:xfrm>
              <a:off x="9554590" y="4516373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4">
                  <a:moveTo>
                    <a:pt x="91693" y="0"/>
                  </a:moveTo>
                  <a:lnTo>
                    <a:pt x="46608" y="7746"/>
                  </a:lnTo>
                  <a:lnTo>
                    <a:pt x="3301" y="24256"/>
                  </a:lnTo>
                  <a:lnTo>
                    <a:pt x="0" y="27558"/>
                  </a:lnTo>
                  <a:lnTo>
                    <a:pt x="761" y="29844"/>
                  </a:lnTo>
                  <a:lnTo>
                    <a:pt x="1397" y="32003"/>
                  </a:lnTo>
                  <a:lnTo>
                    <a:pt x="3809" y="33274"/>
                  </a:lnTo>
                  <a:lnTo>
                    <a:pt x="49063" y="20955"/>
                  </a:lnTo>
                  <a:lnTo>
                    <a:pt x="48894" y="20955"/>
                  </a:lnTo>
                  <a:lnTo>
                    <a:pt x="93979" y="13081"/>
                  </a:lnTo>
                  <a:lnTo>
                    <a:pt x="96392" y="9651"/>
                  </a:lnTo>
                  <a:lnTo>
                    <a:pt x="95123" y="2412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24083CD3-37AC-E5FA-6F7F-389564559761}"/>
                </a:ext>
              </a:extLst>
            </p:cNvPr>
            <p:cNvSpPr/>
            <p:nvPr/>
          </p:nvSpPr>
          <p:spPr>
            <a:xfrm>
              <a:off x="10385044" y="1950593"/>
              <a:ext cx="153670" cy="43815"/>
            </a:xfrm>
            <a:custGeom>
              <a:avLst/>
              <a:gdLst/>
              <a:ahLst/>
              <a:cxnLst/>
              <a:rect l="l" t="t" r="r" b="b"/>
              <a:pathLst>
                <a:path w="153670" h="43814">
                  <a:moveTo>
                    <a:pt x="1407" y="24912"/>
                  </a:moveTo>
                  <a:lnTo>
                    <a:pt x="1437" y="25654"/>
                  </a:lnTo>
                  <a:lnTo>
                    <a:pt x="4190" y="39751"/>
                  </a:lnTo>
                  <a:lnTo>
                    <a:pt x="9905" y="43687"/>
                  </a:lnTo>
                  <a:lnTo>
                    <a:pt x="21844" y="41656"/>
                  </a:lnTo>
                  <a:lnTo>
                    <a:pt x="25907" y="36068"/>
                  </a:lnTo>
                  <a:lnTo>
                    <a:pt x="25264" y="31750"/>
                  </a:lnTo>
                  <a:lnTo>
                    <a:pt x="14477" y="31750"/>
                  </a:lnTo>
                  <a:lnTo>
                    <a:pt x="21607" y="25654"/>
                  </a:lnTo>
                  <a:lnTo>
                    <a:pt x="1777" y="25654"/>
                  </a:lnTo>
                  <a:lnTo>
                    <a:pt x="1407" y="24912"/>
                  </a:lnTo>
                  <a:close/>
                </a:path>
                <a:path w="153670" h="43814">
                  <a:moveTo>
                    <a:pt x="128270" y="23749"/>
                  </a:moveTo>
                  <a:lnTo>
                    <a:pt x="139030" y="24912"/>
                  </a:lnTo>
                  <a:lnTo>
                    <a:pt x="135024" y="24912"/>
                  </a:lnTo>
                  <a:lnTo>
                    <a:pt x="135228" y="25400"/>
                  </a:lnTo>
                  <a:lnTo>
                    <a:pt x="135236" y="25654"/>
                  </a:lnTo>
                  <a:lnTo>
                    <a:pt x="135414" y="26289"/>
                  </a:lnTo>
                  <a:lnTo>
                    <a:pt x="136778" y="32893"/>
                  </a:lnTo>
                  <a:lnTo>
                    <a:pt x="138175" y="34290"/>
                  </a:lnTo>
                  <a:lnTo>
                    <a:pt x="139953" y="34925"/>
                  </a:lnTo>
                  <a:lnTo>
                    <a:pt x="141858" y="35433"/>
                  </a:lnTo>
                  <a:lnTo>
                    <a:pt x="143763" y="34925"/>
                  </a:lnTo>
                  <a:lnTo>
                    <a:pt x="149098" y="29591"/>
                  </a:lnTo>
                  <a:lnTo>
                    <a:pt x="151054" y="26289"/>
                  </a:lnTo>
                  <a:lnTo>
                    <a:pt x="137922" y="26289"/>
                  </a:lnTo>
                  <a:lnTo>
                    <a:pt x="134355" y="24003"/>
                  </a:lnTo>
                  <a:lnTo>
                    <a:pt x="131063" y="24003"/>
                  </a:lnTo>
                  <a:lnTo>
                    <a:pt x="128270" y="23749"/>
                  </a:lnTo>
                  <a:close/>
                </a:path>
                <a:path w="153670" h="43814">
                  <a:moveTo>
                    <a:pt x="24137" y="24003"/>
                  </a:moveTo>
                  <a:lnTo>
                    <a:pt x="23538" y="24003"/>
                  </a:lnTo>
                  <a:lnTo>
                    <a:pt x="14477" y="31750"/>
                  </a:lnTo>
                  <a:lnTo>
                    <a:pt x="18033" y="30987"/>
                  </a:lnTo>
                  <a:lnTo>
                    <a:pt x="24899" y="29271"/>
                  </a:lnTo>
                  <a:lnTo>
                    <a:pt x="24587" y="27114"/>
                  </a:lnTo>
                  <a:lnTo>
                    <a:pt x="24468" y="26289"/>
                  </a:lnTo>
                  <a:lnTo>
                    <a:pt x="24376" y="25654"/>
                  </a:lnTo>
                  <a:lnTo>
                    <a:pt x="22605" y="25654"/>
                  </a:lnTo>
                  <a:lnTo>
                    <a:pt x="22714" y="24912"/>
                  </a:lnTo>
                  <a:lnTo>
                    <a:pt x="24269" y="24912"/>
                  </a:lnTo>
                  <a:lnTo>
                    <a:pt x="24137" y="24003"/>
                  </a:lnTo>
                  <a:close/>
                </a:path>
                <a:path w="153670" h="43814">
                  <a:moveTo>
                    <a:pt x="24899" y="29271"/>
                  </a:moveTo>
                  <a:lnTo>
                    <a:pt x="18033" y="30987"/>
                  </a:lnTo>
                  <a:lnTo>
                    <a:pt x="14477" y="31750"/>
                  </a:lnTo>
                  <a:lnTo>
                    <a:pt x="25264" y="31750"/>
                  </a:lnTo>
                  <a:lnTo>
                    <a:pt x="25019" y="30099"/>
                  </a:lnTo>
                  <a:lnTo>
                    <a:pt x="24899" y="29271"/>
                  </a:lnTo>
                  <a:close/>
                </a:path>
                <a:path w="153670" h="43814">
                  <a:moveTo>
                    <a:pt x="80645" y="24003"/>
                  </a:moveTo>
                  <a:lnTo>
                    <a:pt x="24137" y="24003"/>
                  </a:lnTo>
                  <a:lnTo>
                    <a:pt x="24798" y="28575"/>
                  </a:lnTo>
                  <a:lnTo>
                    <a:pt x="24899" y="29271"/>
                  </a:lnTo>
                  <a:lnTo>
                    <a:pt x="26669" y="28829"/>
                  </a:lnTo>
                  <a:lnTo>
                    <a:pt x="26415" y="28829"/>
                  </a:lnTo>
                  <a:lnTo>
                    <a:pt x="27685" y="28575"/>
                  </a:lnTo>
                  <a:lnTo>
                    <a:pt x="28194" y="28575"/>
                  </a:lnTo>
                  <a:lnTo>
                    <a:pt x="40845" y="26767"/>
                  </a:lnTo>
                  <a:lnTo>
                    <a:pt x="40703" y="26767"/>
                  </a:lnTo>
                  <a:lnTo>
                    <a:pt x="58129" y="24912"/>
                  </a:lnTo>
                  <a:lnTo>
                    <a:pt x="50818" y="24912"/>
                  </a:lnTo>
                  <a:lnTo>
                    <a:pt x="80645" y="24003"/>
                  </a:lnTo>
                  <a:close/>
                </a:path>
                <a:path w="153670" h="43814">
                  <a:moveTo>
                    <a:pt x="27685" y="28575"/>
                  </a:moveTo>
                  <a:lnTo>
                    <a:pt x="26415" y="28829"/>
                  </a:lnTo>
                  <a:lnTo>
                    <a:pt x="26670" y="28829"/>
                  </a:lnTo>
                  <a:lnTo>
                    <a:pt x="27685" y="28575"/>
                  </a:lnTo>
                  <a:close/>
                </a:path>
                <a:path w="153670" h="43814">
                  <a:moveTo>
                    <a:pt x="28194" y="28575"/>
                  </a:moveTo>
                  <a:lnTo>
                    <a:pt x="27685" y="28575"/>
                  </a:lnTo>
                  <a:lnTo>
                    <a:pt x="26670" y="28829"/>
                  </a:lnTo>
                  <a:lnTo>
                    <a:pt x="26416" y="28829"/>
                  </a:lnTo>
                  <a:lnTo>
                    <a:pt x="28194" y="28575"/>
                  </a:lnTo>
                  <a:close/>
                </a:path>
                <a:path w="153670" h="43814">
                  <a:moveTo>
                    <a:pt x="41539" y="26767"/>
                  </a:moveTo>
                  <a:lnTo>
                    <a:pt x="40895" y="26767"/>
                  </a:lnTo>
                  <a:lnTo>
                    <a:pt x="38417" y="27114"/>
                  </a:lnTo>
                  <a:lnTo>
                    <a:pt x="41539" y="26767"/>
                  </a:lnTo>
                  <a:close/>
                </a:path>
                <a:path w="153670" h="43814">
                  <a:moveTo>
                    <a:pt x="132969" y="23114"/>
                  </a:moveTo>
                  <a:lnTo>
                    <a:pt x="137922" y="26289"/>
                  </a:lnTo>
                  <a:lnTo>
                    <a:pt x="136897" y="24912"/>
                  </a:lnTo>
                  <a:lnTo>
                    <a:pt x="135024" y="24912"/>
                  </a:lnTo>
                  <a:lnTo>
                    <a:pt x="134765" y="24003"/>
                  </a:lnTo>
                  <a:lnTo>
                    <a:pt x="134692" y="23749"/>
                  </a:lnTo>
                  <a:lnTo>
                    <a:pt x="134053" y="23495"/>
                  </a:lnTo>
                  <a:lnTo>
                    <a:pt x="132969" y="23114"/>
                  </a:lnTo>
                  <a:close/>
                </a:path>
                <a:path w="153670" h="43814">
                  <a:moveTo>
                    <a:pt x="151746" y="24003"/>
                  </a:moveTo>
                  <a:lnTo>
                    <a:pt x="136220" y="24003"/>
                  </a:lnTo>
                  <a:lnTo>
                    <a:pt x="137922" y="26289"/>
                  </a:lnTo>
                  <a:lnTo>
                    <a:pt x="151093" y="26289"/>
                  </a:lnTo>
                  <a:lnTo>
                    <a:pt x="151746" y="24003"/>
                  </a:lnTo>
                  <a:close/>
                </a:path>
                <a:path w="153670" h="43814">
                  <a:moveTo>
                    <a:pt x="22920" y="23495"/>
                  </a:moveTo>
                  <a:lnTo>
                    <a:pt x="1015" y="23495"/>
                  </a:lnTo>
                  <a:lnTo>
                    <a:pt x="1688" y="25400"/>
                  </a:lnTo>
                  <a:lnTo>
                    <a:pt x="1777" y="25654"/>
                  </a:lnTo>
                  <a:lnTo>
                    <a:pt x="21607" y="25654"/>
                  </a:lnTo>
                  <a:lnTo>
                    <a:pt x="22474" y="24912"/>
                  </a:lnTo>
                  <a:lnTo>
                    <a:pt x="22714" y="24912"/>
                  </a:lnTo>
                  <a:lnTo>
                    <a:pt x="22846" y="24003"/>
                  </a:lnTo>
                  <a:lnTo>
                    <a:pt x="22920" y="23495"/>
                  </a:lnTo>
                  <a:close/>
                </a:path>
                <a:path w="153670" h="43814">
                  <a:moveTo>
                    <a:pt x="23495" y="19558"/>
                  </a:moveTo>
                  <a:lnTo>
                    <a:pt x="22714" y="24912"/>
                  </a:lnTo>
                  <a:lnTo>
                    <a:pt x="22605" y="25654"/>
                  </a:lnTo>
                  <a:lnTo>
                    <a:pt x="22859" y="25400"/>
                  </a:lnTo>
                  <a:lnTo>
                    <a:pt x="22981" y="24912"/>
                  </a:lnTo>
                  <a:lnTo>
                    <a:pt x="23342" y="24003"/>
                  </a:lnTo>
                  <a:lnTo>
                    <a:pt x="24137" y="24003"/>
                  </a:lnTo>
                  <a:lnTo>
                    <a:pt x="23495" y="19558"/>
                  </a:lnTo>
                  <a:close/>
                </a:path>
                <a:path w="153670" h="43814">
                  <a:moveTo>
                    <a:pt x="24269" y="24912"/>
                  </a:moveTo>
                  <a:lnTo>
                    <a:pt x="22981" y="24912"/>
                  </a:lnTo>
                  <a:lnTo>
                    <a:pt x="22859" y="25400"/>
                  </a:lnTo>
                  <a:lnTo>
                    <a:pt x="22605" y="25654"/>
                  </a:lnTo>
                  <a:lnTo>
                    <a:pt x="24376" y="25654"/>
                  </a:lnTo>
                  <a:lnTo>
                    <a:pt x="24269" y="24912"/>
                  </a:lnTo>
                  <a:close/>
                </a:path>
                <a:path w="153670" h="43814">
                  <a:moveTo>
                    <a:pt x="1195" y="24003"/>
                  </a:moveTo>
                  <a:lnTo>
                    <a:pt x="1292" y="24912"/>
                  </a:lnTo>
                  <a:lnTo>
                    <a:pt x="1516" y="24912"/>
                  </a:lnTo>
                  <a:lnTo>
                    <a:pt x="1195" y="24003"/>
                  </a:lnTo>
                  <a:close/>
                </a:path>
                <a:path w="153670" h="43814">
                  <a:moveTo>
                    <a:pt x="23538" y="24003"/>
                  </a:moveTo>
                  <a:lnTo>
                    <a:pt x="23342" y="24003"/>
                  </a:lnTo>
                  <a:lnTo>
                    <a:pt x="22978" y="24912"/>
                  </a:lnTo>
                  <a:lnTo>
                    <a:pt x="22474" y="24912"/>
                  </a:lnTo>
                  <a:lnTo>
                    <a:pt x="23538" y="24003"/>
                  </a:lnTo>
                  <a:close/>
                </a:path>
                <a:path w="153670" h="43814">
                  <a:moveTo>
                    <a:pt x="134776" y="23749"/>
                  </a:moveTo>
                  <a:lnTo>
                    <a:pt x="134765" y="24003"/>
                  </a:lnTo>
                  <a:lnTo>
                    <a:pt x="135024" y="24912"/>
                  </a:lnTo>
                  <a:lnTo>
                    <a:pt x="138087" y="24912"/>
                  </a:lnTo>
                  <a:lnTo>
                    <a:pt x="134776" y="23749"/>
                  </a:lnTo>
                  <a:close/>
                </a:path>
                <a:path w="153670" h="43814">
                  <a:moveTo>
                    <a:pt x="133857" y="20828"/>
                  </a:moveTo>
                  <a:lnTo>
                    <a:pt x="134511" y="23114"/>
                  </a:lnTo>
                  <a:lnTo>
                    <a:pt x="134620" y="23495"/>
                  </a:lnTo>
                  <a:lnTo>
                    <a:pt x="134776" y="23749"/>
                  </a:lnTo>
                  <a:lnTo>
                    <a:pt x="138087" y="24912"/>
                  </a:lnTo>
                  <a:lnTo>
                    <a:pt x="136897" y="24912"/>
                  </a:lnTo>
                  <a:lnTo>
                    <a:pt x="133857" y="20828"/>
                  </a:lnTo>
                  <a:close/>
                </a:path>
                <a:path w="153670" h="43814">
                  <a:moveTo>
                    <a:pt x="129666" y="0"/>
                  </a:moveTo>
                  <a:lnTo>
                    <a:pt x="76284" y="0"/>
                  </a:lnTo>
                  <a:lnTo>
                    <a:pt x="58927" y="635"/>
                  </a:lnTo>
                  <a:lnTo>
                    <a:pt x="58038" y="635"/>
                  </a:lnTo>
                  <a:lnTo>
                    <a:pt x="38607" y="2921"/>
                  </a:lnTo>
                  <a:lnTo>
                    <a:pt x="38100" y="2921"/>
                  </a:lnTo>
                  <a:lnTo>
                    <a:pt x="21307" y="5461"/>
                  </a:lnTo>
                  <a:lnTo>
                    <a:pt x="21716" y="5461"/>
                  </a:lnTo>
                  <a:lnTo>
                    <a:pt x="13030" y="7747"/>
                  </a:lnTo>
                  <a:lnTo>
                    <a:pt x="11683" y="8128"/>
                  </a:lnTo>
                  <a:lnTo>
                    <a:pt x="126" y="19558"/>
                  </a:lnTo>
                  <a:lnTo>
                    <a:pt x="0" y="21209"/>
                  </a:lnTo>
                  <a:lnTo>
                    <a:pt x="867" y="23495"/>
                  </a:lnTo>
                  <a:lnTo>
                    <a:pt x="963" y="23749"/>
                  </a:lnTo>
                  <a:lnTo>
                    <a:pt x="1015" y="23495"/>
                  </a:lnTo>
                  <a:lnTo>
                    <a:pt x="22920" y="23495"/>
                  </a:lnTo>
                  <a:lnTo>
                    <a:pt x="23495" y="19558"/>
                  </a:lnTo>
                  <a:lnTo>
                    <a:pt x="153000" y="19558"/>
                  </a:lnTo>
                  <a:lnTo>
                    <a:pt x="153415" y="18034"/>
                  </a:lnTo>
                  <a:lnTo>
                    <a:pt x="153034" y="15112"/>
                  </a:lnTo>
                  <a:lnTo>
                    <a:pt x="146892" y="5461"/>
                  </a:lnTo>
                  <a:lnTo>
                    <a:pt x="144525" y="3683"/>
                  </a:lnTo>
                  <a:lnTo>
                    <a:pt x="132714" y="381"/>
                  </a:lnTo>
                  <a:lnTo>
                    <a:pt x="129666" y="0"/>
                  </a:lnTo>
                  <a:close/>
                </a:path>
                <a:path w="153670" h="43814">
                  <a:moveTo>
                    <a:pt x="153000" y="19558"/>
                  </a:moveTo>
                  <a:lnTo>
                    <a:pt x="23495" y="19558"/>
                  </a:lnTo>
                  <a:lnTo>
                    <a:pt x="24009" y="23114"/>
                  </a:lnTo>
                  <a:lnTo>
                    <a:pt x="24100" y="23749"/>
                  </a:lnTo>
                  <a:lnTo>
                    <a:pt x="133959" y="23749"/>
                  </a:lnTo>
                  <a:lnTo>
                    <a:pt x="132969" y="23114"/>
                  </a:lnTo>
                  <a:lnTo>
                    <a:pt x="134511" y="23114"/>
                  </a:lnTo>
                  <a:lnTo>
                    <a:pt x="133966" y="21209"/>
                  </a:lnTo>
                  <a:lnTo>
                    <a:pt x="133857" y="20828"/>
                  </a:lnTo>
                  <a:lnTo>
                    <a:pt x="152653" y="20828"/>
                  </a:lnTo>
                  <a:lnTo>
                    <a:pt x="153000" y="19558"/>
                  </a:lnTo>
                  <a:close/>
                </a:path>
                <a:path w="153670" h="43814">
                  <a:moveTo>
                    <a:pt x="134511" y="23114"/>
                  </a:moveTo>
                  <a:lnTo>
                    <a:pt x="132969" y="23114"/>
                  </a:lnTo>
                  <a:lnTo>
                    <a:pt x="134776" y="23749"/>
                  </a:lnTo>
                  <a:lnTo>
                    <a:pt x="134620" y="23495"/>
                  </a:lnTo>
                  <a:lnTo>
                    <a:pt x="134511" y="23114"/>
                  </a:lnTo>
                  <a:close/>
                </a:path>
                <a:path w="153670" h="43814">
                  <a:moveTo>
                    <a:pt x="152653" y="20828"/>
                  </a:moveTo>
                  <a:lnTo>
                    <a:pt x="133857" y="20828"/>
                  </a:lnTo>
                  <a:lnTo>
                    <a:pt x="136031" y="23749"/>
                  </a:lnTo>
                  <a:lnTo>
                    <a:pt x="151819" y="23749"/>
                  </a:lnTo>
                  <a:lnTo>
                    <a:pt x="152545" y="21209"/>
                  </a:lnTo>
                  <a:lnTo>
                    <a:pt x="152653" y="2082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8181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1169-EF6E-5003-4CFB-F029EE9C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object 16">
            <a:extLst>
              <a:ext uri="{FF2B5EF4-FFF2-40B4-BE49-F238E27FC236}">
                <a16:creationId xmlns:a16="http://schemas.microsoft.com/office/drawing/2014/main" id="{174C0271-993B-77F5-03B1-77860F5D8D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60" y="1174960"/>
            <a:ext cx="4205884" cy="5462607"/>
          </a:xfrm>
          <a:prstGeom prst="rect">
            <a:avLst/>
          </a:prstGeom>
        </p:spPr>
      </p:pic>
      <p:pic>
        <p:nvPicPr>
          <p:cNvPr id="32" name="object 4">
            <a:extLst>
              <a:ext uri="{FF2B5EF4-FFF2-40B4-BE49-F238E27FC236}">
                <a16:creationId xmlns:a16="http://schemas.microsoft.com/office/drawing/2014/main" id="{354B1F6D-F514-4125-DF62-3A73C90BF4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2067" y="1804118"/>
            <a:ext cx="5428721" cy="4204292"/>
          </a:xfrm>
          <a:prstGeom prst="rect">
            <a:avLst/>
          </a:prstGeom>
        </p:spPr>
      </p:pic>
      <p:sp>
        <p:nvSpPr>
          <p:cNvPr id="33" name="object 2" descr="$PPTXTitle">
            <a:extLst>
              <a:ext uri="{FF2B5EF4-FFF2-40B4-BE49-F238E27FC236}">
                <a16:creationId xmlns:a16="http://schemas.microsoft.com/office/drawing/2014/main" id="{D1C97809-74E9-D669-36C9-5F2F9ECB6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2521" y="0"/>
            <a:ext cx="10899597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16-to-</a:t>
            </a:r>
            <a:r>
              <a:rPr dirty="0"/>
              <a:t>1</a:t>
            </a:r>
            <a:r>
              <a:rPr spc="5" dirty="0"/>
              <a:t> </a:t>
            </a:r>
            <a:r>
              <a:rPr dirty="0"/>
              <a:t>Mux</a:t>
            </a:r>
            <a:r>
              <a:rPr spc="-10" dirty="0"/>
              <a:t> </a:t>
            </a:r>
            <a:r>
              <a:rPr dirty="0"/>
              <a:t>using</a:t>
            </a:r>
            <a:r>
              <a:rPr spc="10" dirty="0"/>
              <a:t> </a:t>
            </a:r>
            <a:r>
              <a:rPr spc="-10" dirty="0"/>
              <a:t>4-to-</a:t>
            </a:r>
            <a:r>
              <a:rPr dirty="0"/>
              <a:t>1</a:t>
            </a:r>
            <a:r>
              <a:rPr spc="10" dirty="0"/>
              <a:t> </a:t>
            </a:r>
            <a:r>
              <a:rPr spc="-25" dirty="0"/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8120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EC64-162F-26EE-CA09-5B22BFF5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nents of the CPU | CIE A Level Computer Science Revision">
            <a:extLst>
              <a:ext uri="{FF2B5EF4-FFF2-40B4-BE49-F238E27FC236}">
                <a16:creationId xmlns:a16="http://schemas.microsoft.com/office/drawing/2014/main" id="{9E210D4C-8DA3-E5C5-F2B0-ECA4818F6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101600"/>
            <a:ext cx="7537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65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ystem Bus">
            <a:extLst>
              <a:ext uri="{FF2B5EF4-FFF2-40B4-BE49-F238E27FC236}">
                <a16:creationId xmlns:a16="http://schemas.microsoft.com/office/drawing/2014/main" id="{1BE083F8-DEB8-4EF7-3AD7-BE49F9F2E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31900"/>
            <a:ext cx="76200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059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on Neumann Architecture">
            <a:extLst>
              <a:ext uri="{FF2B5EF4-FFF2-40B4-BE49-F238E27FC236}">
                <a16:creationId xmlns:a16="http://schemas.microsoft.com/office/drawing/2014/main" id="{3F5BB79F-AB4C-E45C-8980-197B51BC6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0"/>
            <a:ext cx="8451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48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119</Words>
  <Application>Microsoft Macintosh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Georgia</vt:lpstr>
      <vt:lpstr>Times New Roman</vt:lpstr>
      <vt:lpstr>Wingdings</vt:lpstr>
      <vt:lpstr>Office Theme</vt:lpstr>
      <vt:lpstr>PowerPoint Presentation</vt:lpstr>
      <vt:lpstr>Multiplexer- Combinational Circuits</vt:lpstr>
      <vt:lpstr>PowerPoint Presentation</vt:lpstr>
      <vt:lpstr>PowerPoint Presentation</vt:lpstr>
      <vt:lpstr>4-to-1 Mux using 2-to-1 Mux</vt:lpstr>
      <vt:lpstr>PowerPoint Presentation</vt:lpstr>
      <vt:lpstr>PowerPoint Presentation</vt:lpstr>
      <vt:lpstr>Mux Using Conditional Operator</vt:lpstr>
      <vt:lpstr>Mux Using if-else</vt:lpstr>
      <vt:lpstr>16-to-1 Mux using 4-to-1 Mux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Bin Rashid</dc:creator>
  <cp:lastModifiedBy>Rifat Bin Rashid</cp:lastModifiedBy>
  <cp:revision>24</cp:revision>
  <dcterms:created xsi:type="dcterms:W3CDTF">2025-10-22T16:00:35Z</dcterms:created>
  <dcterms:modified xsi:type="dcterms:W3CDTF">2025-11-05T16:14:14Z</dcterms:modified>
</cp:coreProperties>
</file>