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7" r:id="rId2"/>
    <p:sldId id="490" r:id="rId3"/>
    <p:sldId id="495" r:id="rId4"/>
    <p:sldId id="496" r:id="rId5"/>
    <p:sldId id="494" r:id="rId6"/>
    <p:sldId id="482" r:id="rId7"/>
    <p:sldId id="497" r:id="rId8"/>
    <p:sldId id="481" r:id="rId9"/>
    <p:sldId id="483" r:id="rId10"/>
    <p:sldId id="486" r:id="rId11"/>
    <p:sldId id="487" r:id="rId12"/>
    <p:sldId id="488" r:id="rId13"/>
    <p:sldId id="489" r:id="rId14"/>
    <p:sldId id="491" r:id="rId15"/>
    <p:sldId id="492" r:id="rId16"/>
    <p:sldId id="493" r:id="rId17"/>
    <p:sldId id="268" r:id="rId18"/>
    <p:sldId id="269" r:id="rId19"/>
    <p:sldId id="480" r:id="rId20"/>
    <p:sldId id="477" r:id="rId21"/>
    <p:sldId id="478" r:id="rId22"/>
    <p:sldId id="263" r:id="rId23"/>
    <p:sldId id="264" r:id="rId24"/>
    <p:sldId id="479" r:id="rId25"/>
    <p:sldId id="260" r:id="rId26"/>
    <p:sldId id="26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94"/>
  </p:normalViewPr>
  <p:slideViewPr>
    <p:cSldViewPr snapToGrid="0">
      <p:cViewPr varScale="1">
        <p:scale>
          <a:sx n="95" d="100"/>
          <a:sy n="95" d="100"/>
        </p:scale>
        <p:origin x="1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A790AC59-1FB2-9647-8C3B-0518001CA0B4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852C2B71-F5CA-2243-A535-BD5F5BCD22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1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6B34-73D7-D820-DD01-AF8BB7B79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A42AB-D9C5-E6D5-A202-5E488EB26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C8B1A-42BF-FE41-8243-9B841A47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F4AD-C54C-5340-8F80-C42F7AC37EA1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4BDC-728A-C754-9EA9-516CAB59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86049-A326-1016-0E0B-AB43711E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2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8A95-4ECB-D8B6-19E6-FAD04C6D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A5F5-C274-7FAF-E6A0-AF27CA185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514B8-7934-EF5E-9EF6-D52CAC40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803-8B8A-D146-BB5B-9FAFDC3AB0F2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DF936-E428-82B4-496D-C1462880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CEF2-AB65-BECA-83CC-D5EE3D15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0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7ABC-4265-5EA0-05E5-57AF4E140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93430-D88D-DFAC-1DCD-A5B4A9577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65260-E0A6-2433-5019-932D3536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0C24-C7F6-A443-A9D1-2438A768F8E3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F773E-C0D5-4A58-0D33-B359D93D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EE447-A646-A06D-1FF2-1465B2B5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4335-D06F-1ABA-3F92-E6DF6F36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3561-EFA2-3EE6-B8E6-BD072B8F2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AE842-8C8C-8ABC-9C88-DBBB40DE2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43319-4EB7-B8BD-53C2-D75E9E7B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5FFC-8697-294A-9EE6-5C12F5A8FE78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5ECF7-3369-110C-96B8-1BD16E99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222D6-AC60-1033-2405-6B18FF5B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3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131D-920D-E5AF-D7DB-B716C4B6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E573D-0C8D-3D5D-AC98-19D743356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12966-37C8-B308-4474-CEFBDE815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102E3-61BC-4F40-715B-22432E3D5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8F8D2-FF58-A6A4-7263-FC8A150A2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23547-D011-23DF-A782-5477D0D7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DB27-349E-3A46-ADAC-46C056AA7E9E}" type="datetime1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29EDC-FCC4-9DFD-7AAB-F355DCDE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0DB69-5B44-8BA9-CF8F-A66D37A8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FF90-2558-2087-7D48-A18E5908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AF63E-385B-8D7D-D45F-535F7CA2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F80C-80D9-8D45-BF72-6691DED12E23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BE8C7-EC36-CE03-85E6-9A3A1326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3356C-5B67-FE84-ED79-02DBC441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9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1784F-3FBD-256C-ADA8-E6FE8D1E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4567D-60A2-A347-B858-3FCEDD02ED69}" type="datetime1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C27AF-A30C-370F-3BE6-B685CBDE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D9E73-C22F-85BA-213C-6CBB609B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0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54E-427B-1DAA-9326-75DA56C8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1C21-5A1A-B3AE-8B45-EC0608FC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6C9A6-5749-25D1-1A20-2A4C6F078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A20FD-68A8-3326-7A1F-57810FBA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6DA9-5A69-2341-B1DC-C6F3B5ADC5C2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A56ED-FAC9-471F-D33B-7DFA55A4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90F8E-AE01-6DAA-D351-ADCA3A85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9BD7-C8FA-2FEC-DB2F-935C8A00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52F7E-9CC5-9619-358B-68F562F35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294E2-9D35-854C-3F8F-3DEA23BE5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4F37C-7A46-4BF3-257E-516609E5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512B-5102-5D4B-B071-6CD36A0DDD56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12F1-993B-18C7-7E20-A41B71D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58809-9A4F-DCDD-50F7-0F828A42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1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E5F9-57C5-4C72-9711-87959BD5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022DE-0D3A-0DA8-4053-13DABFD56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FDA4-F3ED-E6A6-05BC-374CA17C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D1DF-7AF4-A64D-9A23-8BB5476534B0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CFE9-25D6-AD27-0E48-F378141C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EDA54-4D12-2DA6-F88B-F5783531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5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E68D3-7F52-A49C-9F8F-471C502CA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C6D7-ACBC-5B59-1ACD-A32BFFFD6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2DA9-7FA9-C66D-8228-9389527D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9345-6FED-764F-B7E5-58B8B6104E66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4818D-7153-28CF-08BE-316045C8A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346E-94BB-B26C-649A-117207C7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2BDC7-E0A7-C9C7-61EF-A89D293D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F58CF-DE86-1E84-D04E-5383D35F6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0284C-E50F-5D2A-6EBC-B915ED1D1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CAB288D-ACDE-7042-9092-CA3362F0D793}" type="datetime1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B1A9-8EC5-78A5-36EB-97C63BC8D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B0DFD-7958-EE6B-1C32-74F9A325A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7B59D6D-BBE8-2E4A-838C-1AECC9DF24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3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Field-Effect+Transistors+%28FETs%29&amp;rlz=1C5ZNUK_enUS1139US1139&amp;oq=bjt+current+controlled+&amp;gs_lcrp=EgZjaHJvbWUqCAgEEAAYFhgeMgoIABBFGBYYHhg5Mg0IARAAGJECGIAEGIoFMgcIAhAAGIAEMggIAxAAGBYYHjIICAQQABgWGB4yCAgFEAAYFhgeMggIBhAAGBYYHjIICAcQABgWGB4yCggIEAAYChgWGB4yCAgJEAAYFhge0gEIODk3NmowajeoAgiwAgHxBY68eJ0hCKMw8QWOvHidIQijMA&amp;sourceid=chrome&amp;ie=UTF-8&amp;mstk=AUtExfBgQU5tNtBPsJkCyowIN_xDUEbW0L_6xSfHBYZ_VXpIVs49N8GslKkyyDPaGlyMK_RP3QLw7-g4mZt5AA_60mqY3fyU_3bpssn5LAGElDA6FmZ5BV99ofP4KzcwluQL6etz5fFMWGcLnOGd8IS7QHWySvM0-dX6Oi8usWC6YFZv870HBPAkDiqb_nyCOzZ2RKQv0DGleXHEISUFhi4LrzyMkqt0_s1zieH7SfvfLFGMPwKomGC_1RDro0ZlrdR1caCxWFrWWAiLing_AXaboxpw&amp;csui=3&amp;ved=2ahUKEwiGwOb-jOyQAxVJD1kFHfxdFB8QgK4QegQIBhA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82B5420-23BE-67EC-A1DE-0E5CEB50B0C1}"/>
              </a:ext>
            </a:extLst>
          </p:cNvPr>
          <p:cNvSpPr txBox="1">
            <a:spLocks/>
          </p:cNvSpPr>
          <p:nvPr/>
        </p:nvSpPr>
        <p:spPr>
          <a:xfrm>
            <a:off x="753600" y="1509688"/>
            <a:ext cx="10820400" cy="4587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z="4000" spc="-10" dirty="0"/>
              <a:t>Week 10 Recitation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40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40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z="3200" spc="-10" dirty="0"/>
              <a:t>Transistors &amp; Others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32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pc="-10" dirty="0">
                <a:solidFill>
                  <a:srgbClr val="006FC0"/>
                </a:solidFill>
                <a:latin typeface="Georgia"/>
                <a:cs typeface="Georgia"/>
              </a:rPr>
              <a:t>Rifat Bin Rashid 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pc="-10" dirty="0">
                <a:solidFill>
                  <a:srgbClr val="006FC0"/>
                </a:solidFill>
                <a:latin typeface="Georgia"/>
                <a:cs typeface="Georgia"/>
              </a:rPr>
              <a:t>Teaching Assistant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Dept.</a:t>
            </a:r>
            <a:r>
              <a:rPr lang="en-US" spc="-3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of</a:t>
            </a:r>
            <a:r>
              <a:rPr lang="en-US" spc="-4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ECE,</a:t>
            </a:r>
            <a:r>
              <a:rPr lang="en-US" spc="-6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spc="-20" dirty="0">
                <a:solidFill>
                  <a:srgbClr val="006FC0"/>
                </a:solidFill>
                <a:latin typeface="Georgia"/>
                <a:cs typeface="Georgia"/>
              </a:rPr>
              <a:t>Rutgers University</a:t>
            </a:r>
            <a:endParaRPr lang="en-US" dirty="0">
              <a:latin typeface="Georgia"/>
              <a:cs typeface="Georgia"/>
            </a:endParaRPr>
          </a:p>
          <a:p>
            <a:pPr marL="1597660" marR="1589405" indent="783590">
              <a:lnSpc>
                <a:spcPct val="124600"/>
              </a:lnSpc>
            </a:pPr>
            <a:endParaRPr lang="en-US" spc="-10" dirty="0">
              <a:solidFill>
                <a:srgbClr val="006FC0"/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27322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8685-CDB6-83CA-27FA-3B8E0FA7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BJT &amp; MOSFET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BE6A6-2FBE-AB70-463F-49D6823E1E53}"/>
              </a:ext>
            </a:extLst>
          </p:cNvPr>
          <p:cNvSpPr txBox="1"/>
          <p:nvPr/>
        </p:nvSpPr>
        <p:spPr>
          <a:xfrm>
            <a:off x="838200" y="1844532"/>
            <a:ext cx="1091761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junction transistor (BJT) 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current-controlled devices.</a:t>
            </a:r>
          </a:p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Signal 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current 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Field-Effect Transistors (FETs)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voltage-controlled devices.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Signal : Gate Voltage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FET, the gate is insulated, so no current flows into it.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applied to the gate controls the width of a channel between the source and drain,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 turn controls the resistance and therefore the current flowing through the channel. 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16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7923F9-2CF1-8870-2488-8B8C510535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99" r="15764" b="50079"/>
          <a:stretch>
            <a:fillRect/>
          </a:stretch>
        </p:blipFill>
        <p:spPr>
          <a:xfrm>
            <a:off x="461981" y="1638684"/>
            <a:ext cx="6463254" cy="44577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D7D7AA-0808-FBE0-2A37-8E2743D6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48" t="49118" r="19619" b="10220"/>
          <a:stretch>
            <a:fillRect/>
          </a:stretch>
        </p:blipFill>
        <p:spPr>
          <a:xfrm>
            <a:off x="7032812" y="2388618"/>
            <a:ext cx="4957482" cy="341509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C74022-4FEF-BD34-7B1C-8930E69D3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54"/>
            <a:ext cx="10515600" cy="1325563"/>
          </a:xfrm>
        </p:spPr>
        <p:txBody>
          <a:bodyPr/>
          <a:lstStyle/>
          <a:p>
            <a:r>
              <a:rPr lang="en-US" dirty="0"/>
              <a:t>MOSFET (NMOS)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053A9-D69B-6009-675D-03EF5218500D}"/>
              </a:ext>
            </a:extLst>
          </p:cNvPr>
          <p:cNvSpPr txBox="1"/>
          <p:nvPr/>
        </p:nvSpPr>
        <p:spPr>
          <a:xfrm>
            <a:off x="2689412" y="6347012"/>
            <a:ext cx="709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©: </a:t>
            </a:r>
            <a:r>
              <a:rPr lang="en-US" b="1" dirty="0"/>
              <a:t>"Microelectronic Circuits"</a:t>
            </a:r>
            <a:r>
              <a:rPr lang="en-US" dirty="0"/>
              <a:t> by Adel S. Sedra and Kenneth C. Smith</a:t>
            </a:r>
          </a:p>
        </p:txBody>
      </p:sp>
    </p:spTree>
    <p:extLst>
      <p:ext uri="{BB962C8B-B14F-4D97-AF65-F5344CB8AC3E}">
        <p14:creationId xmlns:p14="http://schemas.microsoft.com/office/powerpoint/2010/main" val="425457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222C10-21FB-5E1D-67BF-DB0B2F1D1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500" r="11864"/>
          <a:stretch>
            <a:fillRect/>
          </a:stretch>
        </p:blipFill>
        <p:spPr>
          <a:xfrm>
            <a:off x="457647" y="1028916"/>
            <a:ext cx="4424083" cy="323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C0BAE8-871C-401A-3A60-35D1A5EA0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5654"/>
            <a:ext cx="5486400" cy="309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E8817E-01F0-5A2B-2B51-36F0296BC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035" y="3749120"/>
            <a:ext cx="5486400" cy="309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673087-BE08-77ED-BB15-9BC4D0CBC6B9}"/>
              </a:ext>
            </a:extLst>
          </p:cNvPr>
          <p:cNvSpPr txBox="1"/>
          <p:nvPr/>
        </p:nvSpPr>
        <p:spPr>
          <a:xfrm>
            <a:off x="609600" y="280988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Creation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31D92-928B-FE1C-9C46-23A4AD0B0305}"/>
              </a:ext>
            </a:extLst>
          </p:cNvPr>
          <p:cNvSpPr txBox="1"/>
          <p:nvPr/>
        </p:nvSpPr>
        <p:spPr>
          <a:xfrm>
            <a:off x="1336336" y="6201589"/>
            <a:ext cx="709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©: </a:t>
            </a:r>
            <a:r>
              <a:rPr lang="en-US" b="1" dirty="0"/>
              <a:t>"Microelectronic Circuits"</a:t>
            </a:r>
            <a:r>
              <a:rPr lang="en-US" dirty="0"/>
              <a:t> by Adel S. Sedra and Kenneth C. Smith</a:t>
            </a:r>
          </a:p>
        </p:txBody>
      </p:sp>
    </p:spTree>
    <p:extLst>
      <p:ext uri="{BB962C8B-B14F-4D97-AF65-F5344CB8AC3E}">
        <p14:creationId xmlns:p14="http://schemas.microsoft.com/office/powerpoint/2010/main" val="222315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a MOSFET Works - with animation! | Intermediate Electronics">
            <a:extLst>
              <a:ext uri="{FF2B5EF4-FFF2-40B4-BE49-F238E27FC236}">
                <a16:creationId xmlns:a16="http://schemas.microsoft.com/office/drawing/2014/main" id="{C318B733-C78A-ECCE-A575-6AACD6A7F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778" y="912812"/>
            <a:ext cx="8946444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90BF88-AE12-23E9-1EE5-347EDFAA9F9D}"/>
              </a:ext>
            </a:extLst>
          </p:cNvPr>
          <p:cNvSpPr txBox="1"/>
          <p:nvPr/>
        </p:nvSpPr>
        <p:spPr>
          <a:xfrm>
            <a:off x="4286249" y="6243028"/>
            <a:ext cx="4440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</a:t>
            </a:r>
            <a:r>
              <a:rPr lang="en-US" sz="2400" dirty="0" err="1"/>
              <a:t>youtu.be</a:t>
            </a:r>
            <a:r>
              <a:rPr lang="en-US" sz="2400" dirty="0"/>
              <a:t>/Bfvyj88Hs_o</a:t>
            </a:r>
          </a:p>
        </p:txBody>
      </p:sp>
    </p:spTree>
    <p:extLst>
      <p:ext uri="{BB962C8B-B14F-4D97-AF65-F5344CB8AC3E}">
        <p14:creationId xmlns:p14="http://schemas.microsoft.com/office/powerpoint/2010/main" val="217940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DDB191A6-ECBB-9F0B-2480-EEC96D91E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306" y="1382712"/>
                <a:ext cx="10567050" cy="51398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NMOS transistor turns on: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 positive voltage is applied to the gate that is greater than the voltage at the source by at least the threshold voltage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 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Inversion of Channel: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positive voltage creates an electric field that attracts electrons, forming a conducting "n-type" channel between the source and drain regions. 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200" dirty="0"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200" dirty="0">
                  <a:latin typeface="Arial" panose="020B0604020202020204" pitchFamily="34" charset="0"/>
                </a:endParaRP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PMOS transistor turns on: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the gate voltage is lower than the source voltage by at least the (magnitude of the) threshold voltage.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ar-AE" sz="2000" b="0" smtClean="0">
                        <a:latin typeface="Cambria Math" panose="02040503050406030204" pitchFamily="18" charset="0"/>
                      </a:rPr>
                      <m:t>≤−∣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  <m:r>
                      <a:rPr lang="ar-AE" sz="2000" b="0" smtClean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i.e., gate pulled sufficiently below source)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Inversion of channel: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negative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creates an electric field that attracts holes to the surface under the gate, forming a conducting p-type channel between the n+ source and n+ drain regions.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DDB191A6-ECBB-9F0B-2480-EEC96D91E7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306" y="1382712"/>
                <a:ext cx="10567050" cy="5139869"/>
              </a:xfrm>
              <a:prstGeom prst="rect">
                <a:avLst/>
              </a:prstGeom>
              <a:blipFill>
                <a:blip r:embed="rId2"/>
                <a:stretch>
                  <a:fillRect l="-6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5" name="Picture 9">
            <a:extLst>
              <a:ext uri="{FF2B5EF4-FFF2-40B4-BE49-F238E27FC236}">
                <a16:creationId xmlns:a16="http://schemas.microsoft.com/office/drawing/2014/main" id="{A2DDBDFC-46B3-1316-3952-B474209E7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44" y="-274638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F318367F-B391-6765-51AE-B994EA89C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44" y="822325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>
            <a:extLst>
              <a:ext uri="{FF2B5EF4-FFF2-40B4-BE49-F238E27FC236}">
                <a16:creationId xmlns:a16="http://schemas.microsoft.com/office/drawing/2014/main" id="{10072E70-1BDA-17BF-5155-AF0010AE4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44" y="2468562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C16C8B46-0EC1-E2FC-035E-E7ED66138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44" y="38401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Picture 13">
            <a:extLst>
              <a:ext uri="{FF2B5EF4-FFF2-40B4-BE49-F238E27FC236}">
                <a16:creationId xmlns:a16="http://schemas.microsoft.com/office/drawing/2014/main" id="{E6EF9DCC-A629-6C6E-2164-9A62F33A3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44" y="4937125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D31E2E35-A119-E678-7057-A34D0C9A5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44" y="6035675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B12B1F-AF6F-9C65-6333-F8786F50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58" y="57149"/>
            <a:ext cx="10515600" cy="1325563"/>
          </a:xfrm>
        </p:spPr>
        <p:txBody>
          <a:bodyPr/>
          <a:lstStyle/>
          <a:p>
            <a:r>
              <a:rPr lang="en-US" dirty="0"/>
              <a:t>Summary : </a:t>
            </a:r>
          </a:p>
        </p:txBody>
      </p:sp>
    </p:spTree>
    <p:extLst>
      <p:ext uri="{BB962C8B-B14F-4D97-AF65-F5344CB8AC3E}">
        <p14:creationId xmlns:p14="http://schemas.microsoft.com/office/powerpoint/2010/main" val="1472234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A6A37-78E6-845F-C39F-2987BF003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999" y="274527"/>
            <a:ext cx="10515600" cy="11334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NMOS vs PMOS</a:t>
            </a:r>
            <a:br>
              <a:rPr lang="en-US" sz="5400" b="1" dirty="0">
                <a:cs typeface="Times New Roman" panose="02020603050405020304" pitchFamily="18" charset="0"/>
              </a:rPr>
            </a:br>
            <a:endParaRPr lang="en-US" sz="5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4E8E87-4952-25A7-ADC0-DC5787E9F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088614"/>
              </p:ext>
            </p:extLst>
          </p:nvPr>
        </p:nvGraphicFramePr>
        <p:xfrm>
          <a:off x="291097" y="1260108"/>
          <a:ext cx="11795013" cy="5060011"/>
        </p:xfrm>
        <a:graphic>
          <a:graphicData uri="http://schemas.openxmlformats.org/drawingml/2006/table">
            <a:tbl>
              <a:tblPr/>
              <a:tblGrid>
                <a:gridCol w="2989985">
                  <a:extLst>
                    <a:ext uri="{9D8B030D-6E8A-4147-A177-3AD203B41FA5}">
                      <a16:colId xmlns:a16="http://schemas.microsoft.com/office/drawing/2014/main" val="1578032886"/>
                    </a:ext>
                  </a:extLst>
                </a:gridCol>
                <a:gridCol w="4598894">
                  <a:extLst>
                    <a:ext uri="{9D8B030D-6E8A-4147-A177-3AD203B41FA5}">
                      <a16:colId xmlns:a16="http://schemas.microsoft.com/office/drawing/2014/main" val="933736735"/>
                    </a:ext>
                  </a:extLst>
                </a:gridCol>
                <a:gridCol w="4206134">
                  <a:extLst>
                    <a:ext uri="{9D8B030D-6E8A-4147-A177-3AD203B41FA5}">
                      <a16:colId xmlns:a16="http://schemas.microsoft.com/office/drawing/2014/main" val="3747882118"/>
                    </a:ext>
                  </a:extLst>
                </a:gridCol>
              </a:tblGrid>
              <a:tr h="36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NMOS Transistor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PMOS Transistor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129459"/>
                  </a:ext>
                </a:extLst>
              </a:tr>
              <a:tr h="36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channel formed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n-type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p-type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429948"/>
                  </a:ext>
                </a:extLst>
              </a:tr>
              <a:tr h="36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charge carriers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Electrons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Holes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17409"/>
                  </a:ext>
                </a:extLst>
              </a:tr>
              <a:tr h="550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Turns ON when: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 voltage </a:t>
                      </a: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Source voltage + Threshold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 voltage </a:t>
                      </a: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Source voltage – Threshold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169214"/>
                  </a:ext>
                </a:extLst>
              </a:tr>
              <a:tr h="653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Inversion condition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 gate voltage attracts </a:t>
                      </a: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electrons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forming a conducting n-channel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 gate voltage attracts </a:t>
                      </a: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holes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forming a conducting p-channel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141112"/>
                  </a:ext>
                </a:extLst>
              </a:tr>
              <a:tr h="36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Channel carriers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Electrons (high mobility → faster)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Holes (lower mobility → slower)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10525"/>
                  </a:ext>
                </a:extLst>
              </a:tr>
              <a:tr h="653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direction (conventional)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Drain → Source (for positive (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​))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→ Drain (for negative ((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​)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))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619445"/>
                  </a:ext>
                </a:extLst>
              </a:tr>
              <a:tr h="36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 polarity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Arrow points </a:t>
                      </a: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source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Arrow points </a:t>
                      </a: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the source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626512"/>
                  </a:ext>
                </a:extLst>
              </a:tr>
              <a:tr h="6537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position in CMOS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Pull-down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network (connects output to ground when ON)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Pull-up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network (connects output to (V</a:t>
                      </a:r>
                      <a:r>
                        <a:rPr lang="en-US" sz="1800" b="0" i="0" u="none" strike="noStrike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)when ON)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301790"/>
                  </a:ext>
                </a:extLst>
              </a:tr>
              <a:tr h="36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 activation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Activated by logic </a:t>
                      </a: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‘1’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Activated by logic </a:t>
                      </a: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‘0’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019167"/>
                  </a:ext>
                </a:extLst>
              </a:tr>
              <a:tr h="36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 voltage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V</a:t>
                      </a:r>
                      <a:r>
                        <a:rPr lang="en-US" sz="1800" b="0" i="0" u="none" strike="noStrike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 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0 )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V</a:t>
                      </a:r>
                      <a:r>
                        <a:rPr lang="en-US" sz="1800" b="0" i="0" u="none" strike="noStrike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 </a:t>
                      </a: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0 )</a:t>
                      </a:r>
                    </a:p>
                  </a:txBody>
                  <a:tcPr marL="70430" marR="70430" marT="35215" marB="35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043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794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F5EE126-78D2-AD74-C815-82C7964CB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594"/>
          <a:stretch>
            <a:fillRect/>
          </a:stretch>
        </p:blipFill>
        <p:spPr bwMode="auto">
          <a:xfrm>
            <a:off x="1169276" y="1771651"/>
            <a:ext cx="3535396" cy="368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AA924D-9F2D-4CA2-E696-4865869A3CCD}"/>
              </a:ext>
            </a:extLst>
          </p:cNvPr>
          <p:cNvSpPr txBox="1"/>
          <p:nvPr/>
        </p:nvSpPr>
        <p:spPr>
          <a:xfrm>
            <a:off x="167130" y="546082"/>
            <a:ext cx="12180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Q1.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points) All switches are shown open. Close any for which the transistor turns on:</a:t>
            </a:r>
            <a:b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615CE-89B2-5EEB-4625-70B1BA733045}"/>
              </a:ext>
            </a:extLst>
          </p:cNvPr>
          <p:cNvSpPr txBox="1"/>
          <p:nvPr/>
        </p:nvSpPr>
        <p:spPr>
          <a:xfrm>
            <a:off x="8382467" y="1527125"/>
            <a:ext cx="60997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B OUT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0 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1 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0 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1 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13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DA73-5DAD-550D-D951-9A84FD14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C5B69B-EC45-FD5E-4670-350AB343B89B}"/>
              </a:ext>
            </a:extLst>
          </p:cNvPr>
          <p:cNvSpPr txBox="1"/>
          <p:nvPr/>
        </p:nvSpPr>
        <p:spPr>
          <a:xfrm>
            <a:off x="121042" y="601290"/>
            <a:ext cx="122671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Q2.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points) All switches are shown open. Close any for which the transistor turns on:</a:t>
            </a:r>
            <a:b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B293EA-D928-F400-4148-E2B27590D3ED}"/>
              </a:ext>
            </a:extLst>
          </p:cNvPr>
          <p:cNvSpPr txBox="1"/>
          <p:nvPr/>
        </p:nvSpPr>
        <p:spPr>
          <a:xfrm>
            <a:off x="8479181" y="1524019"/>
            <a:ext cx="20563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B OUT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0 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0 1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1 0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1 _____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27C0B8-1D55-A4E2-A46B-F2148BE80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77" y="3173384"/>
            <a:ext cx="7911140" cy="404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B58A8EC-DA14-4C20-B049-08D3CFCBBC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797"/>
          <a:stretch>
            <a:fillRect/>
          </a:stretch>
        </p:blipFill>
        <p:spPr bwMode="auto">
          <a:xfrm>
            <a:off x="722989" y="1704876"/>
            <a:ext cx="2420261" cy="406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730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34EB-7773-8FEA-2CA4-F88A5950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EF523B-800C-8888-AD0F-660B0D9AE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77" y="3173384"/>
            <a:ext cx="7911140" cy="404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C3DD743-C13F-9E25-1C6E-C859766E6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60" y="2100263"/>
            <a:ext cx="8938907" cy="363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B0CA0-A97D-F91F-2861-910A36285F59}"/>
              </a:ext>
            </a:extLst>
          </p:cNvPr>
          <p:cNvSpPr txBox="1"/>
          <p:nvPr/>
        </p:nvSpPr>
        <p:spPr>
          <a:xfrm>
            <a:off x="9515501" y="1351982"/>
            <a:ext cx="20563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B OUT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0 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0 1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1 0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_____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1 _____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08127-7A5F-1444-65E7-AE1AA28D50C2}"/>
              </a:ext>
            </a:extLst>
          </p:cNvPr>
          <p:cNvSpPr txBox="1"/>
          <p:nvPr/>
        </p:nvSpPr>
        <p:spPr>
          <a:xfrm>
            <a:off x="121042" y="601290"/>
            <a:ext cx="122671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Q2.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points) All switches are shown open. Close any for which the transistor turns on:</a:t>
            </a:r>
            <a:b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946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21CE-8E4D-DDCD-4CF3-6FD6A679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A7719D-901A-1ECB-9107-8EB624616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77" y="3173384"/>
            <a:ext cx="7911140" cy="404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8DF963A-34FA-D9D5-84FB-C6DC52986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60" y="2100263"/>
            <a:ext cx="8938907" cy="363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94CA6C-3DF9-4F7F-FA9A-2CAAA2C4DC9E}"/>
              </a:ext>
            </a:extLst>
          </p:cNvPr>
          <p:cNvSpPr txBox="1"/>
          <p:nvPr/>
        </p:nvSpPr>
        <p:spPr>
          <a:xfrm>
            <a:off x="9601049" y="1351982"/>
            <a:ext cx="60997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B OUT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0 __5V___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1 __0V__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0 __0V_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1 ___0V__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AD9CB-892B-095B-05AE-00CA056A41DD}"/>
              </a:ext>
            </a:extLst>
          </p:cNvPr>
          <p:cNvSpPr txBox="1"/>
          <p:nvPr/>
        </p:nvSpPr>
        <p:spPr>
          <a:xfrm>
            <a:off x="9601049" y="3106309"/>
            <a:ext cx="1605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NOR Gate!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F1E63-5C3F-E894-8563-BD4BDC6F79B7}"/>
              </a:ext>
            </a:extLst>
          </p:cNvPr>
          <p:cNvSpPr txBox="1"/>
          <p:nvPr/>
        </p:nvSpPr>
        <p:spPr>
          <a:xfrm>
            <a:off x="121042" y="601290"/>
            <a:ext cx="122671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Q2.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points) All switches are shown open. Close any for which the transistor turns on:</a:t>
            </a:r>
            <a:b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182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266" name="Picture 2" descr="CMOS Logic Gate - GeeksforGeeks">
            <a:extLst>
              <a:ext uri="{FF2B5EF4-FFF2-40B4-BE49-F238E27FC236}">
                <a16:creationId xmlns:a16="http://schemas.microsoft.com/office/drawing/2014/main" id="{A74B4BFE-C08D-0DB1-6FA0-13A00C6B64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0" b="5374"/>
          <a:stretch>
            <a:fillRect/>
          </a:stretch>
        </p:blipFill>
        <p:spPr bwMode="auto">
          <a:xfrm>
            <a:off x="1414462" y="796123"/>
            <a:ext cx="9363075" cy="526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048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6A24724-98A8-8F09-C15E-8CFF205AD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" y="343629"/>
            <a:ext cx="11742317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Q3.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(20 points) Complete the truth table for the letters you are given. First indicate whether the output of the gate is 1 or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the problem on the right,  show of the voltage of point X as a result. Last show whether the motor is ON or OFF as a result.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 D OUT Motor G H OUT X Motor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 0 ____ _____ 0 0 _____ _____ ______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 1 ____ _____ 0 1 _____ _____ ______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 0 ____ _____ 1 0 _____ _____ ______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 1 ____ _____ 1 1 _____ _____ ______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  </a:t>
            </a:r>
            <a:r>
              <a:rPr kumimoji="0" lang="en-US" altLang="en-US" sz="18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Arial" panose="020B0604020202020204" pitchFamily="34" charset="0"/>
              </a:rPr>
              <a:t>      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D72A48A-1E09-8745-7552-C5A2E494F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945" y="2400300"/>
            <a:ext cx="10083642" cy="413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108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F6140-1D94-0B78-A18A-876736AF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A0228644-6AEF-EF44-E1CA-63C9CCD2AF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9" b="51036"/>
          <a:stretch>
            <a:fillRect/>
          </a:stretch>
        </p:blipFill>
        <p:spPr bwMode="auto">
          <a:xfrm>
            <a:off x="2897525" y="3207861"/>
            <a:ext cx="6396950" cy="284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35A21E-C32A-D7F6-A4B5-A1BEA91F1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774510"/>
              </p:ext>
            </p:extLst>
          </p:nvPr>
        </p:nvGraphicFramePr>
        <p:xfrm>
          <a:off x="1095375" y="806927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6151675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63864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43816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4692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Motor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73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94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946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312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363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A902-3715-FA0C-CFD9-D32555FFF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D9A09B-57A9-4611-4DF3-F6F868A12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463188"/>
              </p:ext>
            </p:extLst>
          </p:nvPr>
        </p:nvGraphicFramePr>
        <p:xfrm>
          <a:off x="1109663" y="561817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6151675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63864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43816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4692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Motor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73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94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946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312794"/>
                  </a:ext>
                </a:extLst>
              </a:tr>
            </a:tbl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94EB4D4B-01ED-3497-3E03-A0B9C72B3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16" r="55070"/>
          <a:stretch>
            <a:fillRect/>
          </a:stretch>
        </p:blipFill>
        <p:spPr bwMode="auto">
          <a:xfrm>
            <a:off x="3244928" y="3367905"/>
            <a:ext cx="5841921" cy="268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803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C5B34-AC15-5201-C5BD-EE168040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B4F37C-6C14-0A32-999A-8272E7FF4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083804"/>
              </p:ext>
            </p:extLst>
          </p:nvPr>
        </p:nvGraphicFramePr>
        <p:xfrm>
          <a:off x="1095375" y="806927"/>
          <a:ext cx="1051560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6151675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863864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043816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046924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3150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X (V)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Motor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73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≈ 0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94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≈ 10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055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≈ 10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On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946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≈ 10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31279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DF43152-B74F-5AA3-82E5-5458B0DDF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21" b="51036"/>
          <a:stretch>
            <a:fillRect/>
          </a:stretch>
        </p:blipFill>
        <p:spPr bwMode="auto">
          <a:xfrm>
            <a:off x="2714623" y="3200400"/>
            <a:ext cx="7870326" cy="285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655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94A8-3101-E41C-BDCB-B9B1D6DE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067" y="298519"/>
            <a:ext cx="9433180" cy="923330"/>
          </a:xfrm>
        </p:spPr>
        <p:txBody>
          <a:bodyPr/>
          <a:lstStyle/>
          <a:p>
            <a:r>
              <a:rPr lang="en-US"/>
              <a:t>Nand/Nor – Universal gate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D277BD-0218-281F-7721-0F3EF5BA30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994"/>
          <a:stretch>
            <a:fillRect/>
          </a:stretch>
        </p:blipFill>
        <p:spPr bwMode="auto">
          <a:xfrm>
            <a:off x="3124200" y="2324100"/>
            <a:ext cx="7558157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981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0B9C8-09AB-997A-5BD6-DA04CDA7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5065-F8AC-AE02-7E17-0522E9093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620" y="211435"/>
            <a:ext cx="9433180" cy="923330"/>
          </a:xfrm>
        </p:spPr>
        <p:txBody>
          <a:bodyPr/>
          <a:lstStyle/>
          <a:p>
            <a:r>
              <a:rPr lang="en-US"/>
              <a:t>Nand/Nor – Universal gate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123C1-E74D-30E9-9902-3414B1AE5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8"/>
          <a:stretch>
            <a:fillRect/>
          </a:stretch>
        </p:blipFill>
        <p:spPr bwMode="auto">
          <a:xfrm>
            <a:off x="2693894" y="1241611"/>
            <a:ext cx="5994400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05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84676-351B-7FA2-E9EE-A4D2B4C4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E4AF-1F70-8EAE-DE16-04331C13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714" y="224882"/>
            <a:ext cx="9433180" cy="923330"/>
          </a:xfrm>
        </p:spPr>
        <p:txBody>
          <a:bodyPr/>
          <a:lstStyle/>
          <a:p>
            <a:r>
              <a:rPr lang="en-US" dirty="0"/>
              <a:t>BUILD anything with NAND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74EC4C8-5775-8DCC-6A81-6163340D4717}"/>
              </a:ext>
            </a:extLst>
          </p:cNvPr>
          <p:cNvSpPr txBox="1">
            <a:spLocks/>
          </p:cNvSpPr>
          <p:nvPr/>
        </p:nvSpPr>
        <p:spPr>
          <a:xfrm>
            <a:off x="1261714" y="1332024"/>
            <a:ext cx="9433180" cy="923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BUILD anything with NOR</a:t>
            </a:r>
          </a:p>
        </p:txBody>
      </p:sp>
    </p:spTree>
    <p:extLst>
      <p:ext uri="{BB962C8B-B14F-4D97-AF65-F5344CB8AC3E}">
        <p14:creationId xmlns:p14="http://schemas.microsoft.com/office/powerpoint/2010/main" val="1462948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B168-A6ED-F01D-9B8D-E95A29B01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01838"/>
            <a:ext cx="10515600" cy="1325563"/>
          </a:xfrm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Verilog Procedural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ABE3-6AC7-85CB-26EB-72C8B81C0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01"/>
            <a:ext cx="10515600" cy="51673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Two types. 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cs typeface="Times New Roman" panose="02020603050405020304" pitchFamily="18" charset="0"/>
              </a:rPr>
              <a:t>initial block: </a:t>
            </a:r>
          </a:p>
          <a:p>
            <a:pPr marL="0" indent="0">
              <a:buNone/>
            </a:pPr>
            <a:endParaRPr lang="en-US" b="1" dirty="0"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dirty="0">
                <a:cs typeface="Times New Roman" panose="02020603050405020304" pitchFamily="18" charset="0"/>
              </a:rPr>
              <a:t>This block executes only once at the beginning of a simulation (time 0) and is non-synthesizable, meaning it cannot be converted into actual hardware. It is typically used in testbenches for initial value setup. </a:t>
            </a:r>
          </a:p>
          <a:p>
            <a:pPr marL="2743200" lvl="6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begin</a:t>
            </a:r>
          </a:p>
          <a:p>
            <a:pPr marL="2743200" lvl="6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statements</a:t>
            </a:r>
          </a:p>
          <a:p>
            <a:pPr marL="2743200" lvl="6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</a:t>
            </a:r>
          </a:p>
          <a:p>
            <a:pPr marL="914400" lvl="2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cs typeface="Times New Roman" panose="02020603050405020304" pitchFamily="18" charset="0"/>
              </a:rPr>
              <a:t>always block: </a:t>
            </a:r>
          </a:p>
          <a:p>
            <a:pPr marL="0" indent="0">
              <a:buNone/>
            </a:pPr>
            <a:endParaRPr lang="en-US" b="1" dirty="0"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dirty="0">
                <a:cs typeface="Times New Roman" panose="02020603050405020304" pitchFamily="18" charset="0"/>
              </a:rPr>
              <a:t>This block continuously executes statements based on a sensitivity list. </a:t>
            </a:r>
          </a:p>
          <a:p>
            <a:pPr marL="2743200" lvl="6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begin</a:t>
            </a:r>
          </a:p>
          <a:p>
            <a:pPr marL="2743200" lvl="6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statements</a:t>
            </a:r>
          </a:p>
          <a:p>
            <a:pPr marL="2743200" lvl="6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</a:t>
            </a:r>
          </a:p>
        </p:txBody>
      </p:sp>
    </p:spTree>
    <p:extLst>
      <p:ext uri="{BB962C8B-B14F-4D97-AF65-F5344CB8AC3E}">
        <p14:creationId xmlns:p14="http://schemas.microsoft.com/office/powerpoint/2010/main" val="2304847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08F400-AEB8-B251-199A-1D9A5883F2B3}"/>
              </a:ext>
            </a:extLst>
          </p:cNvPr>
          <p:cNvSpPr txBox="1"/>
          <p:nvPr/>
        </p:nvSpPr>
        <p:spPr>
          <a:xfrm>
            <a:off x="2906485" y="305068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`timescale 1ns/1ns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my_tb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logic [3:0] a = 4'b1001;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logic [3:0] b;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initial begin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logic [3:0] result = a &amp; b;   // a AND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$display("%b", result);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a | b;               // a OR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$display("%b", result);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a ^ b;               // a XOR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$display("%b", result);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 = { ~a[3:2], a[1:0] };      // b = 01_01 when a=1001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~(a &amp; b);            // a NAND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$display("%b", result);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end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7F39F-E697-38EC-8A2F-4257C5DE68AE}"/>
              </a:ext>
            </a:extLst>
          </p:cNvPr>
          <p:cNvSpPr txBox="1"/>
          <p:nvPr/>
        </p:nvSpPr>
        <p:spPr>
          <a:xfrm>
            <a:off x="925286" y="174439"/>
            <a:ext cx="1774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1: </a:t>
            </a:r>
          </a:p>
        </p:txBody>
      </p:sp>
    </p:spTree>
    <p:extLst>
      <p:ext uri="{BB962C8B-B14F-4D97-AF65-F5344CB8AC3E}">
        <p14:creationId xmlns:p14="http://schemas.microsoft.com/office/powerpoint/2010/main" val="375360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15D3-54E0-4DD0-56AF-025CF60D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D21275-5F3C-1A70-496D-0DF965539846}"/>
              </a:ext>
            </a:extLst>
          </p:cNvPr>
          <p:cNvSpPr txBox="1"/>
          <p:nvPr/>
        </p:nvSpPr>
        <p:spPr>
          <a:xfrm>
            <a:off x="2906485" y="305068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`timescale 1ns/1ns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my_tb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logic [3:0] a = 4'b1001;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logic [3:0] b;  //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is not assigned , so b=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initial begin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logic [3:0] result = a &amp; b;   // a AND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$display("%b", result);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a | b;               // a OR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$display("%b", result);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a ^ b;               // a XOR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$display("%b", result);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 = { ~a[3:2], a[1:0] };      // b = 01_01 when a=1001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~(a &amp; b);            // a NAND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$display("%b", result);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end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693A39-8FFE-83F6-3C4F-DB8178E55174}"/>
              </a:ext>
            </a:extLst>
          </p:cNvPr>
          <p:cNvSpPr txBox="1"/>
          <p:nvPr/>
        </p:nvSpPr>
        <p:spPr>
          <a:xfrm>
            <a:off x="9467970" y="276728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Result: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x00x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1xx1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xxxx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1110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22EEF5-1568-C333-C4AD-46FE9A16E792}"/>
              </a:ext>
            </a:extLst>
          </p:cNvPr>
          <p:cNvSpPr txBox="1"/>
          <p:nvPr/>
        </p:nvSpPr>
        <p:spPr>
          <a:xfrm>
            <a:off x="751114" y="30506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1: </a:t>
            </a:r>
          </a:p>
        </p:txBody>
      </p:sp>
    </p:spTree>
    <p:extLst>
      <p:ext uri="{BB962C8B-B14F-4D97-AF65-F5344CB8AC3E}">
        <p14:creationId xmlns:p14="http://schemas.microsoft.com/office/powerpoint/2010/main" val="3247685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658-5C7E-E8E4-6AB7-F2063AD8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Timescale 1ns/1ns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38C7-5E6A-B7CB-6DF5-0612758C7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timeunit</a:t>
            </a:r>
            <a:r>
              <a:rPr lang="en-US" dirty="0"/>
              <a:t> 1ns;</a:t>
            </a:r>
          </a:p>
          <a:p>
            <a:r>
              <a:rPr lang="en-US" dirty="0" err="1"/>
              <a:t>timeprecision</a:t>
            </a:r>
            <a:r>
              <a:rPr lang="en-US" dirty="0"/>
              <a:t> 1ns;</a:t>
            </a:r>
          </a:p>
          <a:p>
            <a:endParaRPr lang="en-US" dirty="0"/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327A6B79-C3FA-97DC-E2FF-0565427BB4DB}"/>
              </a:ext>
            </a:extLst>
          </p:cNvPr>
          <p:cNvCxnSpPr>
            <a:cxnSpLocks/>
          </p:cNvCxnSpPr>
          <p:nvPr/>
        </p:nvCxnSpPr>
        <p:spPr>
          <a:xfrm rot="5400000">
            <a:off x="3010829" y="1378454"/>
            <a:ext cx="869796" cy="624469"/>
          </a:xfrm>
          <a:prstGeom prst="bentConnector3">
            <a:avLst>
              <a:gd name="adj1" fmla="val 101281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6F15311-657B-92A8-32BB-4C76057F55EF}"/>
              </a:ext>
            </a:extLst>
          </p:cNvPr>
          <p:cNvCxnSpPr>
            <a:cxnSpLocks/>
          </p:cNvCxnSpPr>
          <p:nvPr/>
        </p:nvCxnSpPr>
        <p:spPr>
          <a:xfrm rot="5400000">
            <a:off x="3574257" y="1647652"/>
            <a:ext cx="1356153" cy="572429"/>
          </a:xfrm>
          <a:prstGeom prst="bentConnector3">
            <a:avLst>
              <a:gd name="adj1" fmla="val 100158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470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9C7DE5-F3E5-176A-8A0A-A17D6CEA6467}"/>
              </a:ext>
            </a:extLst>
          </p:cNvPr>
          <p:cNvSpPr txBox="1"/>
          <p:nvPr/>
        </p:nvSpPr>
        <p:spPr>
          <a:xfrm>
            <a:off x="1719941" y="363915"/>
            <a:ext cx="942702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1600" b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Complete the following system Verilog program. The timescale should be 2ns, splitting each delay in 100 parts to look for timing hazards.</a:t>
            </a:r>
          </a:p>
          <a:p>
            <a:pPr rtl="0" fontAlgn="base"/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`timescale ________________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_________ ALU_8bit_tb;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_____ [7:0] a;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_____ [7:0] b;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initial _______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a = 15;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b = 23;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reg[7:0] c = a &amp; b; // c = __________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reg[7:0] d = a | b; // d = __________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reg[7:0] e = a ^ b; // e = __________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reg[7:0] f = a &lt;&lt; 2; // f = _________ 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reg[7:0] g = b &gt;&gt; 1; // g = _________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reg[7:0] h = {a[0],a[7:1]};// h = _________ 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_____      // set a delay so this program ends after 1</a:t>
            </a:r>
            <a:r>
              <a:rPr lang="el-GR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μ</a:t>
            </a: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 (1000ns)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$finish;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end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forever begin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________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    </a:t>
            </a:r>
            <a:r>
              <a:rPr lang="en-US" sz="160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clk</a:t>
            </a: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= _________</a:t>
            </a:r>
            <a:r>
              <a:rPr lang="en-US" sz="160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clk</a:t>
            </a: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 // set timing so clock has period of 4ns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end    </a:t>
            </a:r>
            <a:b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16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_________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0C5A3-5F7C-7C80-6EF7-AD1B9BB7AE1A}"/>
              </a:ext>
            </a:extLst>
          </p:cNvPr>
          <p:cNvSpPr txBox="1"/>
          <p:nvPr/>
        </p:nvSpPr>
        <p:spPr>
          <a:xfrm>
            <a:off x="413657" y="0"/>
            <a:ext cx="1774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2: </a:t>
            </a:r>
          </a:p>
        </p:txBody>
      </p:sp>
    </p:spTree>
    <p:extLst>
      <p:ext uri="{BB962C8B-B14F-4D97-AF65-F5344CB8AC3E}">
        <p14:creationId xmlns:p14="http://schemas.microsoft.com/office/powerpoint/2010/main" val="2823317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BAC0-854D-B3C2-914C-D49805A3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C083F-6CB9-A0CE-57D9-958E13B0BBE1}"/>
              </a:ext>
            </a:extLst>
          </p:cNvPr>
          <p:cNvSpPr txBox="1"/>
          <p:nvPr/>
        </p:nvSpPr>
        <p:spPr>
          <a:xfrm>
            <a:off x="2928257" y="181957"/>
            <a:ext cx="6096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</a:rPr>
              <a:t>`timescale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2ns/20ps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module ALU_8bit_tb;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reg</a:t>
            </a:r>
            <a:r>
              <a:rPr lang="en-US" sz="1600" dirty="0">
                <a:latin typeface="Times New Roman" panose="02020603050405020304" pitchFamily="18" charset="0"/>
              </a:rPr>
              <a:t> [7:0] a;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reg</a:t>
            </a:r>
            <a:r>
              <a:rPr lang="en-US" sz="1600" dirty="0">
                <a:latin typeface="Times New Roman" panose="02020603050405020304" pitchFamily="18" charset="0"/>
              </a:rPr>
              <a:t> [7:0] b;</a:t>
            </a:r>
          </a:p>
          <a:p>
            <a:endParaRPr lang="en-US" sz="1600" dirty="0">
              <a:latin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</a:rPr>
              <a:t>  initial begin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a = 8'd15;  // 0000_1111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b = 8'd23;  // 0001_0111</a:t>
            </a:r>
          </a:p>
          <a:p>
            <a:endParaRPr lang="en-US" sz="1600" dirty="0">
              <a:latin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</a:rPr>
              <a:t>    reg [7:0] c = a &amp; b;         //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c = 8'b00000111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reg [7:0] d = a | b;         //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d = 8'b00011111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reg [7:0] e = a ^ b;         //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e = 8'b00011000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reg [7:0] f = a &lt;&lt; 2;        //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f = 8'b00111100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reg [7:0] g = b &gt;&gt; 1;        //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g = 8'b00001011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reg [7:0] h = {a[0], a[7:1]};//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h = 8'b10000111</a:t>
            </a:r>
          </a:p>
          <a:p>
            <a:endParaRPr lang="en-US" sz="1600" dirty="0">
              <a:latin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#500;                        </a:t>
            </a:r>
            <a:r>
              <a:rPr lang="en-US" sz="1600" dirty="0">
                <a:latin typeface="Times New Roman" panose="02020603050405020304" pitchFamily="18" charset="0"/>
              </a:rPr>
              <a:t>// stop after 1 </a:t>
            </a:r>
            <a:r>
              <a:rPr lang="en-US" sz="1600" dirty="0" err="1">
                <a:latin typeface="Times New Roman" panose="02020603050405020304" pitchFamily="18" charset="0"/>
              </a:rPr>
              <a:t>μs</a:t>
            </a:r>
            <a:r>
              <a:rPr lang="en-US" sz="1600" dirty="0">
                <a:latin typeface="Times New Roman" panose="02020603050405020304" pitchFamily="18" charset="0"/>
              </a:rPr>
              <a:t> (1000 ns)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$finish;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end</a:t>
            </a:r>
          </a:p>
          <a:p>
            <a:endParaRPr lang="en-US" sz="1600" dirty="0">
              <a:latin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</a:rPr>
              <a:t>  // Clock with 4 ns period (2 ns high + 2 ns low)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forever begin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    #1;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clk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 = ~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clk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;                  </a:t>
            </a:r>
            <a:r>
              <a:rPr lang="en-US" sz="1600" dirty="0">
                <a:latin typeface="Times New Roman" panose="02020603050405020304" pitchFamily="18" charset="0"/>
              </a:rPr>
              <a:t>// toggle every 2 ns (timescale unit)</a:t>
            </a:r>
          </a:p>
          <a:p>
            <a:r>
              <a:rPr lang="en-US" sz="1600" dirty="0">
                <a:latin typeface="Times New Roman" panose="02020603050405020304" pitchFamily="18" charset="0"/>
              </a:rPr>
              <a:t>  end</a:t>
            </a:r>
          </a:p>
          <a:p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endmodule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871534-8F60-B3A1-89C3-97BFE5B66E97}"/>
              </a:ext>
            </a:extLst>
          </p:cNvPr>
          <p:cNvSpPr txBox="1"/>
          <p:nvPr/>
        </p:nvSpPr>
        <p:spPr>
          <a:xfrm>
            <a:off x="631371" y="181957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2: </a:t>
            </a:r>
          </a:p>
        </p:txBody>
      </p:sp>
    </p:spTree>
    <p:extLst>
      <p:ext uri="{BB962C8B-B14F-4D97-AF65-F5344CB8AC3E}">
        <p14:creationId xmlns:p14="http://schemas.microsoft.com/office/powerpoint/2010/main" val="236813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13AE0-F320-5F56-9F32-6EBCF2D24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58B93-FA54-6B81-D7F7-5896D621DC5A}"/>
              </a:ext>
            </a:extLst>
          </p:cNvPr>
          <p:cNvSpPr txBox="1"/>
          <p:nvPr/>
        </p:nvSpPr>
        <p:spPr>
          <a:xfrm>
            <a:off x="3690883" y="2090058"/>
            <a:ext cx="459266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2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Wednesday – Nov 19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Time: 12:10 Pm -1:30 Pm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Place: SEC-209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Recitation section 0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481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1679</Words>
  <Application>Microsoft Macintosh PowerPoint</Application>
  <PresentationFormat>Widescreen</PresentationFormat>
  <Paragraphs>257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Cambria Math</vt:lpstr>
      <vt:lpstr>Courier New</vt:lpstr>
      <vt:lpstr>Georgia</vt:lpstr>
      <vt:lpstr>Times New Roman</vt:lpstr>
      <vt:lpstr>Office Theme</vt:lpstr>
      <vt:lpstr>PowerPoint Presentation</vt:lpstr>
      <vt:lpstr>BJT &amp; MOSFET</vt:lpstr>
      <vt:lpstr>MOSFET (NMOS)</vt:lpstr>
      <vt:lpstr>PowerPoint Presentation</vt:lpstr>
      <vt:lpstr>PowerPoint Presentation</vt:lpstr>
      <vt:lpstr>Summary : </vt:lpstr>
      <vt:lpstr>NMOS vs PMOS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Nand/Nor – Universal gate</vt:lpstr>
      <vt:lpstr>Nand/Nor – Universal gate</vt:lpstr>
      <vt:lpstr>BUILD anything with NAND</vt:lpstr>
      <vt:lpstr>Verilog Procedural blocks</vt:lpstr>
      <vt:lpstr>PowerPoint Presentation</vt:lpstr>
      <vt:lpstr>PowerPoint Presentation</vt:lpstr>
      <vt:lpstr>Timescale 1ns/1ns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Rifat Bin Rashid</dc:creator>
  <cp:lastModifiedBy>Rifat Bin Rashid</cp:lastModifiedBy>
  <cp:revision>31</cp:revision>
  <dcterms:created xsi:type="dcterms:W3CDTF">2025-10-22T16:00:35Z</dcterms:created>
  <dcterms:modified xsi:type="dcterms:W3CDTF">2025-11-12T17:00:14Z</dcterms:modified>
</cp:coreProperties>
</file>